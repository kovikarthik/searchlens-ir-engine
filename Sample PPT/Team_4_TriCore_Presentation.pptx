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6" name="Shape 25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Aptos"/>
      </a:defRPr>
    </a:lvl1pPr>
    <a:lvl2pPr indent="228600" defTabSz="457200" latinLnBrk="0">
      <a:defRPr sz="1200">
        <a:latin typeface="+mn-lt"/>
        <a:ea typeface="+mn-ea"/>
        <a:cs typeface="+mn-cs"/>
        <a:sym typeface="Aptos"/>
      </a:defRPr>
    </a:lvl2pPr>
    <a:lvl3pPr indent="457200" defTabSz="457200" latinLnBrk="0">
      <a:defRPr sz="1200">
        <a:latin typeface="+mn-lt"/>
        <a:ea typeface="+mn-ea"/>
        <a:cs typeface="+mn-cs"/>
        <a:sym typeface="Aptos"/>
      </a:defRPr>
    </a:lvl3pPr>
    <a:lvl4pPr indent="685800" defTabSz="457200" latinLnBrk="0">
      <a:defRPr sz="1200">
        <a:latin typeface="+mn-lt"/>
        <a:ea typeface="+mn-ea"/>
        <a:cs typeface="+mn-cs"/>
        <a:sym typeface="Aptos"/>
      </a:defRPr>
    </a:lvl4pPr>
    <a:lvl5pPr indent="914400" defTabSz="457200" latinLnBrk="0">
      <a:defRPr sz="1200">
        <a:latin typeface="+mn-lt"/>
        <a:ea typeface="+mn-ea"/>
        <a:cs typeface="+mn-cs"/>
        <a:sym typeface="Aptos"/>
      </a:defRPr>
    </a:lvl5pPr>
    <a:lvl6pPr indent="1143000" defTabSz="457200" latinLnBrk="0">
      <a:defRPr sz="1200">
        <a:latin typeface="+mn-lt"/>
        <a:ea typeface="+mn-ea"/>
        <a:cs typeface="+mn-cs"/>
        <a:sym typeface="Aptos"/>
      </a:defRPr>
    </a:lvl6pPr>
    <a:lvl7pPr indent="1371600" defTabSz="457200" latinLnBrk="0">
      <a:defRPr sz="1200">
        <a:latin typeface="+mn-lt"/>
        <a:ea typeface="+mn-ea"/>
        <a:cs typeface="+mn-cs"/>
        <a:sym typeface="Aptos"/>
      </a:defRPr>
    </a:lvl7pPr>
    <a:lvl8pPr indent="1600200" defTabSz="457200" latinLnBrk="0">
      <a:defRPr sz="1200">
        <a:latin typeface="+mn-lt"/>
        <a:ea typeface="+mn-ea"/>
        <a:cs typeface="+mn-cs"/>
        <a:sym typeface="Aptos"/>
      </a:defRPr>
    </a:lvl8pPr>
    <a:lvl9pPr indent="1828800" defTabSz="4572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2" name="Shape 3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Our framework has four Python modules in src/: workload, architecture, analysis, and metrics. Everything is parameterized via three YAML files in config/. The entry point scripts/run_experiments.py loads configs and produces JSON output in results/.</a:t>
            </a:r>
          </a:p>
          <a:p>
            <a:pPr/>
          </a:p>
          <a:p>
            <a:pPr/>
            <a:r>
              <a:t>The standalone project8_analysis.py can also run the full evaluation independently, defining the Llama 3 8B model and all three architectures inline. This dual-entry design ensures reproducibility </a:t>
            </a:r>
            <a:r>
              <a:t>-</a:t>
            </a:r>
            <a:r>
              <a:t> change a YAML parameter and re-run to see the impact.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3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6" name="Shape 3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table shows every result from our framework.</a:t>
            </a:r>
          </a:p>
          <a:p>
            <a:pPr/>
          </a:p>
          <a:p>
            <a:pPr/>
            <a:r>
              <a:t>Training rows: all compute-bound. H100 leads at 20,527 tok/s because it has the highest BF16 compute. The Inference-ASIC is slowest for training (8,302 tok/s) — it was never designed for this.</a:t>
            </a:r>
          </a:p>
          <a:p>
            <a:pPr/>
          </a:p>
          <a:p>
            <a:pPr/>
            <a:r>
              <a:t>Inference rows: all memory-bound. The ASIC leads at 19,471 tok/s thanks to its 15 TB/s SRAM bandwidth. The H100 achieves only 4,348 tok/s — its 989 TFLOP/s compute is almost entirely wasted. The Unified-GPU is worst at 1,122 tok/s because GDDR6 at 864 GB/s severely limits throughput.</a:t>
            </a:r>
          </a:p>
          <a:p>
            <a:pPr/>
          </a:p>
          <a:p>
            <a:pPr/>
            <a:r>
              <a:t>Every number comes from results_20260304_221623.json.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8" name="Shape 4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Our TCO model computes 3-year costs including electricity at $0.10/kWh.</a:t>
            </a:r>
          </a:p>
          <a:p>
            <a:pPr/>
          </a:p>
          <a:p>
            <a:pPr/>
            <a:r>
              <a:t>For inference: the ASIC costs $0.0017/1M tokens vs $0.0774 for H100 </a:t>
            </a:r>
            <a:r>
              <a:t>-</a:t>
            </a:r>
            <a:r>
              <a:t> 45× cheaper. This comes from both the 10× cheaper chip ($3K vs $30K) and 9.3× less power (75W vs 700W).</a:t>
            </a:r>
          </a:p>
          <a:p>
            <a:pPr/>
          </a:p>
          <a:p>
            <a:pPr/>
            <a:r>
              <a:t>The Unified-GPU is actually the most expensive for inference at $0.1029/1M tok </a:t>
            </a:r>
            <a:r>
              <a:t>-</a:t>
            </a:r>
            <a:r>
              <a:t> even worse than the H100 </a:t>
            </a:r>
            <a:r>
              <a:t>-</a:t>
            </a:r>
            <a:r>
              <a:t> because its low bandwidth yields only 1,122 tok/s.</a:t>
            </a:r>
          </a:p>
          <a:p>
            <a:pPr/>
          </a:p>
          <a:p>
            <a:pPr/>
            <a:r>
              <a:t>For training, the H100 is cheapest per token ($0.0164) due to highest throughput. The recommendation is clear: specialize your hardware for the workload.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0">
              <a:buSzTx/>
              <a:buFontTx/>
              <a:buNone/>
              <a:defRPr b="1" sz="2400"/>
            </a:lvl2pPr>
            <a:lvl3pPr marL="0" indent="0">
              <a:buSzTx/>
              <a:buFontTx/>
              <a:buNone/>
              <a:defRPr b="1" sz="2400"/>
            </a:lvl3pPr>
            <a:lvl4pPr marL="0" indent="0">
              <a:buSzTx/>
              <a:buFontTx/>
              <a:buNone/>
              <a:defRPr b="1" sz="2400"/>
            </a:lvl4pPr>
            <a:lvl5pPr marL="0" indent="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6" y="2057400"/>
            <a:ext cx="3932241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93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11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0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9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0">
              <a:buSzTx/>
              <a:buFontTx/>
              <a:buNone/>
              <a:defRPr b="1" sz="2400"/>
            </a:lvl2pPr>
            <a:lvl3pPr marL="0" indent="0">
              <a:buSzTx/>
              <a:buFontTx/>
              <a:buNone/>
              <a:defRPr b="1" sz="2400"/>
            </a:lvl3pPr>
            <a:lvl4pPr marL="0" indent="0">
              <a:buSzTx/>
              <a:buFontTx/>
              <a:buNone/>
              <a:defRPr b="1" sz="2400"/>
            </a:lvl4pPr>
            <a:lvl5pPr marL="0" indent="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1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54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Text Placeholder 3"/>
          <p:cNvSpPr/>
          <p:nvPr>
            <p:ph type="body" sz="quarter" idx="21"/>
          </p:nvPr>
        </p:nvSpPr>
        <p:spPr>
          <a:xfrm>
            <a:off x="839786" y="2057400"/>
            <a:ext cx="3932241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64" name="Picture Placeholder 2"/>
          <p:cNvSpPr/>
          <p:nvPr>
            <p:ph type="pic" sz="half" idx="2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5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bg>
      <p:bgPr>
        <a:solidFill>
          <a:srgbClr val="418A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itle Text"/>
          <p:cNvSpPr txBox="1"/>
          <p:nvPr>
            <p:ph type="title"/>
          </p:nvPr>
        </p:nvSpPr>
        <p:spPr>
          <a:xfrm>
            <a:off x="1600200" y="2386744"/>
            <a:ext cx="8991600" cy="1645922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lIns="182879" tIns="182879" rIns="182879" bIns="182879"/>
          <a:lstStyle>
            <a:lvl1pPr algn="ctr">
              <a:defRPr cap="all" spc="200" sz="38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74" name="Body Level One…"/>
          <p:cNvSpPr txBox="1"/>
          <p:nvPr>
            <p:ph type="body" sz="quarter" idx="1"/>
          </p:nvPr>
        </p:nvSpPr>
        <p:spPr>
          <a:xfrm>
            <a:off x="2695194" y="4352544"/>
            <a:ext cx="6801612" cy="123989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SzTx/>
              <a:buFontTx/>
              <a:buNone/>
              <a:defRPr sz="20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  <a:lvl2pPr marL="0" indent="0" algn="ctr">
              <a:lnSpc>
                <a:spcPct val="100000"/>
              </a:lnSpc>
              <a:buSzTx/>
              <a:buFontTx/>
              <a:buNone/>
              <a:defRPr sz="20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2pPr>
            <a:lvl3pPr marL="0" indent="0" algn="ctr">
              <a:lnSpc>
                <a:spcPct val="100000"/>
              </a:lnSpc>
              <a:buSzTx/>
              <a:buFontTx/>
              <a:buNone/>
              <a:defRPr sz="20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3pPr>
            <a:lvl4pPr marL="0" indent="0" algn="ctr">
              <a:lnSpc>
                <a:spcPct val="100000"/>
              </a:lnSpc>
              <a:buSzTx/>
              <a:buFontTx/>
              <a:buNone/>
              <a:defRPr sz="20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4pPr>
            <a:lvl5pPr marL="0" indent="0" algn="ctr">
              <a:lnSpc>
                <a:spcPct val="100000"/>
              </a:lnSpc>
              <a:buSzTx/>
              <a:buFontTx/>
              <a:buNone/>
              <a:defRPr sz="20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5" name="Slide Number"/>
          <p:cNvSpPr txBox="1"/>
          <p:nvPr>
            <p:ph type="sldNum" sz="quarter" idx="2"/>
          </p:nvPr>
        </p:nvSpPr>
        <p:spPr>
          <a:xfrm>
            <a:off x="10758922" y="6299962"/>
            <a:ext cx="365762" cy="201677"/>
          </a:xfrm>
          <a:prstGeom prst="rect">
            <a:avLst/>
          </a:prstGeom>
          <a:solidFill>
            <a:srgbClr val="1D1D1D">
              <a:alpha val="70000"/>
            </a:srgbClr>
          </a:solidFill>
        </p:spPr>
        <p:txBody>
          <a:bodyPr wrap="square" lIns="18288" tIns="18288" rIns="18288" bIns="18288"/>
          <a:lstStyle>
            <a:lvl1pPr algn="ctr">
              <a:defRPr sz="11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 Text"/>
          <p:cNvSpPr txBox="1"/>
          <p:nvPr>
            <p:ph type="title"/>
          </p:nvPr>
        </p:nvSpPr>
        <p:spPr>
          <a:xfrm>
            <a:off x="2231134" y="964691"/>
            <a:ext cx="7729731" cy="1188722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lIns="182879" tIns="182879" rIns="182879" bIns="182879"/>
          <a:lstStyle>
            <a:lvl1pPr algn="ctr">
              <a:defRPr cap="all" spc="200" sz="28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3" name="Body Level One…"/>
          <p:cNvSpPr txBox="1"/>
          <p:nvPr>
            <p:ph type="body" sz="half" idx="1"/>
          </p:nvPr>
        </p:nvSpPr>
        <p:spPr>
          <a:xfrm>
            <a:off x="2231134" y="2638044"/>
            <a:ext cx="7729731" cy="310198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rgbClr val="418AB3"/>
              </a:buClr>
              <a:defRPr sz="18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  <a:lvl2pPr marL="485775" indent="-257175">
              <a:lnSpc>
                <a:spcPct val="100000"/>
              </a:lnSpc>
              <a:buClr>
                <a:srgbClr val="418AB3"/>
              </a:buClr>
              <a:defRPr sz="18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2pPr>
            <a:lvl3pPr marL="714375" indent="-257175">
              <a:lnSpc>
                <a:spcPct val="100000"/>
              </a:lnSpc>
              <a:buClr>
                <a:srgbClr val="418AB3"/>
              </a:buClr>
              <a:defRPr sz="18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3pPr>
            <a:lvl4pPr marL="942975" indent="-257175">
              <a:lnSpc>
                <a:spcPct val="100000"/>
              </a:lnSpc>
              <a:buClr>
                <a:srgbClr val="418AB3"/>
              </a:buClr>
              <a:defRPr sz="18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4pPr>
            <a:lvl5pPr marL="1171575" indent="-257175">
              <a:lnSpc>
                <a:spcPct val="100000"/>
              </a:lnSpc>
              <a:buClr>
                <a:srgbClr val="418AB3"/>
              </a:buClr>
              <a:defRPr sz="18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4" name="Slide Number"/>
          <p:cNvSpPr txBox="1"/>
          <p:nvPr>
            <p:ph type="sldNum" sz="quarter" idx="2"/>
          </p:nvPr>
        </p:nvSpPr>
        <p:spPr>
          <a:xfrm>
            <a:off x="10758922" y="6299962"/>
            <a:ext cx="365762" cy="201677"/>
          </a:xfrm>
          <a:prstGeom prst="rect">
            <a:avLst/>
          </a:prstGeom>
          <a:solidFill>
            <a:srgbClr val="1D1D1D">
              <a:alpha val="70000"/>
            </a:srgbClr>
          </a:solidFill>
        </p:spPr>
        <p:txBody>
          <a:bodyPr wrap="square" lIns="18288" tIns="18288" rIns="18288" bIns="18288"/>
          <a:lstStyle>
            <a:lvl1pPr algn="ctr">
              <a:defRPr sz="11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bg>
      <p:bgPr>
        <a:solidFill>
          <a:srgbClr val="A6B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itle Text"/>
          <p:cNvSpPr txBox="1"/>
          <p:nvPr>
            <p:ph type="title"/>
          </p:nvPr>
        </p:nvSpPr>
        <p:spPr>
          <a:xfrm>
            <a:off x="1600200" y="2386744"/>
            <a:ext cx="8991600" cy="1645922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lIns="182879" tIns="182879" rIns="182879" bIns="182879"/>
          <a:lstStyle>
            <a:lvl1pPr algn="ctr">
              <a:defRPr cap="all" spc="200" sz="38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92" name="Body Level One…"/>
          <p:cNvSpPr txBox="1"/>
          <p:nvPr>
            <p:ph type="body" sz="quarter" idx="1"/>
          </p:nvPr>
        </p:nvSpPr>
        <p:spPr>
          <a:xfrm>
            <a:off x="2695194" y="4352464"/>
            <a:ext cx="6801612" cy="126508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SzTx/>
              <a:buFontTx/>
              <a:buNone/>
              <a:defRPr sz="20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  <a:lvl2pPr marL="0" indent="0" algn="ctr">
              <a:lnSpc>
                <a:spcPct val="100000"/>
              </a:lnSpc>
              <a:buSzTx/>
              <a:buFontTx/>
              <a:buNone/>
              <a:defRPr sz="20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2pPr>
            <a:lvl3pPr marL="0" indent="0" algn="ctr">
              <a:lnSpc>
                <a:spcPct val="100000"/>
              </a:lnSpc>
              <a:buSzTx/>
              <a:buFontTx/>
              <a:buNone/>
              <a:defRPr sz="20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3pPr>
            <a:lvl4pPr marL="0" indent="0" algn="ctr">
              <a:lnSpc>
                <a:spcPct val="100000"/>
              </a:lnSpc>
              <a:buSzTx/>
              <a:buFontTx/>
              <a:buNone/>
              <a:defRPr sz="20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4pPr>
            <a:lvl5pPr marL="0" indent="0" algn="ctr">
              <a:lnSpc>
                <a:spcPct val="100000"/>
              </a:lnSpc>
              <a:buSzTx/>
              <a:buFontTx/>
              <a:buNone/>
              <a:defRPr sz="20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Slide Number"/>
          <p:cNvSpPr txBox="1"/>
          <p:nvPr>
            <p:ph type="sldNum" sz="quarter" idx="2"/>
          </p:nvPr>
        </p:nvSpPr>
        <p:spPr>
          <a:xfrm>
            <a:off x="10758922" y="6299962"/>
            <a:ext cx="365762" cy="201677"/>
          </a:xfrm>
          <a:prstGeom prst="rect">
            <a:avLst/>
          </a:prstGeom>
          <a:solidFill>
            <a:srgbClr val="1D1D1D">
              <a:alpha val="70000"/>
            </a:srgbClr>
          </a:solidFill>
        </p:spPr>
        <p:txBody>
          <a:bodyPr wrap="square" lIns="18288" tIns="18288" rIns="18288" bIns="18288"/>
          <a:lstStyle>
            <a:lvl1pPr algn="ctr">
              <a:defRPr sz="11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Text"/>
          <p:cNvSpPr txBox="1"/>
          <p:nvPr>
            <p:ph type="title"/>
          </p:nvPr>
        </p:nvSpPr>
        <p:spPr>
          <a:xfrm>
            <a:off x="2231134" y="964691"/>
            <a:ext cx="7729731" cy="1188722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lIns="182879" tIns="182879" rIns="182879" bIns="182879"/>
          <a:lstStyle>
            <a:lvl1pPr algn="ctr">
              <a:defRPr cap="all" spc="200" sz="28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01" name="Body Level One…"/>
          <p:cNvSpPr txBox="1"/>
          <p:nvPr>
            <p:ph type="body" sz="quarter" idx="1"/>
          </p:nvPr>
        </p:nvSpPr>
        <p:spPr>
          <a:xfrm>
            <a:off x="1581911" y="2638044"/>
            <a:ext cx="4271773" cy="310198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rgbClr val="418AB3"/>
              </a:buClr>
              <a:defRPr sz="18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  <a:lvl2pPr marL="485775" indent="-257175">
              <a:lnSpc>
                <a:spcPct val="100000"/>
              </a:lnSpc>
              <a:buClr>
                <a:srgbClr val="418AB3"/>
              </a:buClr>
              <a:defRPr sz="18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2pPr>
            <a:lvl3pPr marL="714375" indent="-257175">
              <a:lnSpc>
                <a:spcPct val="100000"/>
              </a:lnSpc>
              <a:buClr>
                <a:srgbClr val="418AB3"/>
              </a:buClr>
              <a:defRPr sz="18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3pPr>
            <a:lvl4pPr marL="942975" indent="-257175">
              <a:lnSpc>
                <a:spcPct val="100000"/>
              </a:lnSpc>
              <a:buClr>
                <a:srgbClr val="418AB3"/>
              </a:buClr>
              <a:defRPr sz="18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4pPr>
            <a:lvl5pPr marL="1171575" indent="-257175">
              <a:lnSpc>
                <a:spcPct val="100000"/>
              </a:lnSpc>
              <a:buClr>
                <a:srgbClr val="418AB3"/>
              </a:buClr>
              <a:defRPr sz="18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2" name="Slide Number"/>
          <p:cNvSpPr txBox="1"/>
          <p:nvPr>
            <p:ph type="sldNum" sz="quarter" idx="2"/>
          </p:nvPr>
        </p:nvSpPr>
        <p:spPr>
          <a:xfrm>
            <a:off x="10758922" y="6299962"/>
            <a:ext cx="365762" cy="201677"/>
          </a:xfrm>
          <a:prstGeom prst="rect">
            <a:avLst/>
          </a:prstGeom>
          <a:solidFill>
            <a:srgbClr val="1D1D1D">
              <a:alpha val="70000"/>
            </a:srgbClr>
          </a:solidFill>
        </p:spPr>
        <p:txBody>
          <a:bodyPr wrap="square" lIns="18288" tIns="18288" rIns="18288" bIns="18288"/>
          <a:lstStyle>
            <a:lvl1pPr algn="ctr">
              <a:defRPr sz="11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Body Level One…"/>
          <p:cNvSpPr txBox="1"/>
          <p:nvPr>
            <p:ph type="body" sz="quarter" idx="1"/>
          </p:nvPr>
        </p:nvSpPr>
        <p:spPr>
          <a:xfrm>
            <a:off x="1583436" y="2313433"/>
            <a:ext cx="4270248" cy="70408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SzTx/>
              <a:buFontTx/>
              <a:buNone/>
              <a:defRPr cap="all" spc="100" sz="1900">
                <a:solidFill>
                  <a:srgbClr val="418AB3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  <a:lvl2pPr marL="0" indent="0" algn="ctr">
              <a:lnSpc>
                <a:spcPct val="100000"/>
              </a:lnSpc>
              <a:buSzTx/>
              <a:buFontTx/>
              <a:buNone/>
              <a:defRPr cap="all" spc="100" sz="1900">
                <a:solidFill>
                  <a:srgbClr val="418AB3"/>
                </a:solidFill>
                <a:latin typeface="Gill Sans MT"/>
                <a:ea typeface="Gill Sans MT"/>
                <a:cs typeface="Gill Sans MT"/>
                <a:sym typeface="Gill Sans MT"/>
              </a:defRPr>
            </a:lvl2pPr>
            <a:lvl3pPr marL="0" indent="0" algn="ctr">
              <a:lnSpc>
                <a:spcPct val="100000"/>
              </a:lnSpc>
              <a:buSzTx/>
              <a:buFontTx/>
              <a:buNone/>
              <a:defRPr cap="all" spc="100" sz="1900">
                <a:solidFill>
                  <a:srgbClr val="418AB3"/>
                </a:solidFill>
                <a:latin typeface="Gill Sans MT"/>
                <a:ea typeface="Gill Sans MT"/>
                <a:cs typeface="Gill Sans MT"/>
                <a:sym typeface="Gill Sans MT"/>
              </a:defRPr>
            </a:lvl3pPr>
            <a:lvl4pPr marL="0" indent="0" algn="ctr">
              <a:lnSpc>
                <a:spcPct val="100000"/>
              </a:lnSpc>
              <a:buSzTx/>
              <a:buFontTx/>
              <a:buNone/>
              <a:defRPr cap="all" spc="100" sz="1900">
                <a:solidFill>
                  <a:srgbClr val="418AB3"/>
                </a:solidFill>
                <a:latin typeface="Gill Sans MT"/>
                <a:ea typeface="Gill Sans MT"/>
                <a:cs typeface="Gill Sans MT"/>
                <a:sym typeface="Gill Sans MT"/>
              </a:defRPr>
            </a:lvl4pPr>
            <a:lvl5pPr marL="0" indent="0" algn="ctr">
              <a:lnSpc>
                <a:spcPct val="100000"/>
              </a:lnSpc>
              <a:buSzTx/>
              <a:buFontTx/>
              <a:buNone/>
              <a:defRPr cap="all" spc="100" sz="1900">
                <a:solidFill>
                  <a:srgbClr val="418AB3"/>
                </a:solidFill>
                <a:latin typeface="Gill Sans MT"/>
                <a:ea typeface="Gill Sans MT"/>
                <a:cs typeface="Gill Sans MT"/>
                <a:sym typeface="Gill Sans M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0" name="Text Placeholder 4"/>
          <p:cNvSpPr/>
          <p:nvPr>
            <p:ph type="body" sz="quarter" idx="21"/>
          </p:nvPr>
        </p:nvSpPr>
        <p:spPr>
          <a:xfrm>
            <a:off x="6338315" y="2313432"/>
            <a:ext cx="4270250" cy="704090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211" name="Title Text"/>
          <p:cNvSpPr txBox="1"/>
          <p:nvPr>
            <p:ph type="title"/>
          </p:nvPr>
        </p:nvSpPr>
        <p:spPr>
          <a:xfrm>
            <a:off x="2231134" y="964691"/>
            <a:ext cx="7729731" cy="1188722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lIns="182879" tIns="182879" rIns="182879" bIns="182879"/>
          <a:lstStyle>
            <a:lvl1pPr algn="ctr">
              <a:defRPr cap="all" spc="200" sz="28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12" name="Slide Number"/>
          <p:cNvSpPr txBox="1"/>
          <p:nvPr>
            <p:ph type="sldNum" sz="quarter" idx="2"/>
          </p:nvPr>
        </p:nvSpPr>
        <p:spPr>
          <a:xfrm>
            <a:off x="10758922" y="6299962"/>
            <a:ext cx="365762" cy="201677"/>
          </a:xfrm>
          <a:prstGeom prst="rect">
            <a:avLst/>
          </a:prstGeom>
          <a:solidFill>
            <a:srgbClr val="1D1D1D">
              <a:alpha val="70000"/>
            </a:srgbClr>
          </a:solidFill>
        </p:spPr>
        <p:txBody>
          <a:bodyPr wrap="square" lIns="18288" tIns="18288" rIns="18288" bIns="18288"/>
          <a:lstStyle>
            <a:lvl1pPr algn="ctr">
              <a:defRPr sz="11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itle Text"/>
          <p:cNvSpPr txBox="1"/>
          <p:nvPr>
            <p:ph type="title"/>
          </p:nvPr>
        </p:nvSpPr>
        <p:spPr>
          <a:xfrm>
            <a:off x="2231134" y="964691"/>
            <a:ext cx="7729731" cy="1188722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lIns="182879" tIns="182879" rIns="182879" bIns="182879"/>
          <a:lstStyle>
            <a:lvl1pPr algn="ctr">
              <a:defRPr cap="all" spc="200" sz="28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xfrm>
            <a:off x="10758922" y="6299962"/>
            <a:ext cx="365762" cy="201677"/>
          </a:xfrm>
          <a:prstGeom prst="rect">
            <a:avLst/>
          </a:prstGeom>
          <a:solidFill>
            <a:srgbClr val="1D1D1D">
              <a:alpha val="70000"/>
            </a:srgbClr>
          </a:solidFill>
        </p:spPr>
        <p:txBody>
          <a:bodyPr wrap="square" lIns="18288" tIns="18288" rIns="18288" bIns="18288"/>
          <a:lstStyle>
            <a:lvl1pPr algn="ctr">
              <a:defRPr sz="11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lide Number"/>
          <p:cNvSpPr txBox="1"/>
          <p:nvPr>
            <p:ph type="sldNum" sz="quarter" idx="2"/>
          </p:nvPr>
        </p:nvSpPr>
        <p:spPr>
          <a:xfrm>
            <a:off x="10758922" y="6299962"/>
            <a:ext cx="365762" cy="201677"/>
          </a:xfrm>
          <a:prstGeom prst="rect">
            <a:avLst/>
          </a:prstGeom>
          <a:solidFill>
            <a:srgbClr val="1D1D1D">
              <a:alpha val="70000"/>
            </a:srgbClr>
          </a:solidFill>
        </p:spPr>
        <p:txBody>
          <a:bodyPr wrap="square" lIns="18288" tIns="18288" rIns="18288" bIns="18288"/>
          <a:lstStyle>
            <a:lvl1pPr algn="ctr">
              <a:defRPr sz="11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418AB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</a:p>
        </p:txBody>
      </p:sp>
      <p:sp>
        <p:nvSpPr>
          <p:cNvPr id="235" name="Title Text"/>
          <p:cNvSpPr txBox="1"/>
          <p:nvPr>
            <p:ph type="title"/>
          </p:nvPr>
        </p:nvSpPr>
        <p:spPr>
          <a:xfrm>
            <a:off x="804672" y="2243826"/>
            <a:ext cx="4486656" cy="1141499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lIns="182879" tIns="182879" rIns="182879" bIns="182879"/>
          <a:lstStyle>
            <a:lvl1pPr algn="ctr">
              <a:defRPr cap="all" spc="200" sz="22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36" name="Body Level One…"/>
          <p:cNvSpPr txBox="1"/>
          <p:nvPr>
            <p:ph type="body" sz="half" idx="1"/>
          </p:nvPr>
        </p:nvSpPr>
        <p:spPr>
          <a:xfrm>
            <a:off x="6736080" y="804672"/>
            <a:ext cx="4815842" cy="524865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rgbClr val="418AB3"/>
              </a:buClr>
              <a:defRPr sz="1900">
                <a:latin typeface="Gill Sans MT"/>
                <a:ea typeface="Gill Sans MT"/>
                <a:cs typeface="Gill Sans MT"/>
                <a:sym typeface="Gill Sans MT"/>
              </a:defRPr>
            </a:lvl1pPr>
            <a:lvl2pPr marL="500062" indent="-271461">
              <a:lnSpc>
                <a:spcPct val="100000"/>
              </a:lnSpc>
              <a:buClr>
                <a:srgbClr val="418AB3"/>
              </a:buClr>
              <a:defRPr sz="1900">
                <a:latin typeface="Gill Sans MT"/>
                <a:ea typeface="Gill Sans MT"/>
                <a:cs typeface="Gill Sans MT"/>
                <a:sym typeface="Gill Sans MT"/>
              </a:defRPr>
            </a:lvl2pPr>
            <a:lvl3pPr marL="728662" indent="-271462">
              <a:lnSpc>
                <a:spcPct val="100000"/>
              </a:lnSpc>
              <a:buClr>
                <a:srgbClr val="418AB3"/>
              </a:buClr>
              <a:defRPr sz="1900">
                <a:latin typeface="Gill Sans MT"/>
                <a:ea typeface="Gill Sans MT"/>
                <a:cs typeface="Gill Sans MT"/>
                <a:sym typeface="Gill Sans MT"/>
              </a:defRPr>
            </a:lvl3pPr>
            <a:lvl4pPr marL="957262" indent="-271462">
              <a:lnSpc>
                <a:spcPct val="100000"/>
              </a:lnSpc>
              <a:buClr>
                <a:srgbClr val="418AB3"/>
              </a:buClr>
              <a:defRPr sz="1900">
                <a:latin typeface="Gill Sans MT"/>
                <a:ea typeface="Gill Sans MT"/>
                <a:cs typeface="Gill Sans MT"/>
                <a:sym typeface="Gill Sans MT"/>
              </a:defRPr>
            </a:lvl4pPr>
            <a:lvl5pPr marL="1185862" indent="-271462">
              <a:lnSpc>
                <a:spcPct val="100000"/>
              </a:lnSpc>
              <a:buClr>
                <a:srgbClr val="418AB3"/>
              </a:buClr>
              <a:defRPr sz="1900">
                <a:latin typeface="Gill Sans MT"/>
                <a:ea typeface="Gill Sans MT"/>
                <a:cs typeface="Gill Sans MT"/>
                <a:sym typeface="Gill Sans M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7" name="Text Placeholder 3"/>
          <p:cNvSpPr/>
          <p:nvPr>
            <p:ph type="body" sz="quarter" idx="21"/>
          </p:nvPr>
        </p:nvSpPr>
        <p:spPr>
          <a:xfrm>
            <a:off x="1115566" y="3549917"/>
            <a:ext cx="3794761" cy="219403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8" name="Slide Number"/>
          <p:cNvSpPr txBox="1"/>
          <p:nvPr>
            <p:ph type="sldNum" sz="quarter" idx="2"/>
          </p:nvPr>
        </p:nvSpPr>
        <p:spPr>
          <a:xfrm>
            <a:off x="10758922" y="6299962"/>
            <a:ext cx="365762" cy="201677"/>
          </a:xfrm>
          <a:prstGeom prst="rect">
            <a:avLst/>
          </a:prstGeom>
          <a:solidFill>
            <a:srgbClr val="1D1D1D">
              <a:alpha val="70000"/>
            </a:srgbClr>
          </a:solidFill>
        </p:spPr>
        <p:txBody>
          <a:bodyPr wrap="square" lIns="18288" tIns="18288" rIns="18288" bIns="18288"/>
          <a:lstStyle>
            <a:lvl1pPr algn="ctr">
              <a:defRPr sz="11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ctangle 17"/>
          <p:cNvSpPr/>
          <p:nvPr/>
        </p:nvSpPr>
        <p:spPr>
          <a:xfrm>
            <a:off x="-2" y="0"/>
            <a:ext cx="6096003" cy="6858000"/>
          </a:xfrm>
          <a:prstGeom prst="rect">
            <a:avLst/>
          </a:prstGeom>
          <a:solidFill>
            <a:srgbClr val="418AB3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Gill Sans MT"/>
                <a:ea typeface="Gill Sans MT"/>
                <a:cs typeface="Gill Sans MT"/>
                <a:sym typeface="Gill Sans MT"/>
              </a:defRPr>
            </a:pPr>
          </a:p>
        </p:txBody>
      </p:sp>
      <p:sp>
        <p:nvSpPr>
          <p:cNvPr id="246" name="Title Text"/>
          <p:cNvSpPr txBox="1"/>
          <p:nvPr>
            <p:ph type="title"/>
          </p:nvPr>
        </p:nvSpPr>
        <p:spPr>
          <a:xfrm>
            <a:off x="808522" y="2243826"/>
            <a:ext cx="4495001" cy="1134643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lIns="182879" tIns="182879" rIns="182879" bIns="182879"/>
          <a:lstStyle>
            <a:lvl1pPr algn="ctr">
              <a:defRPr cap="all" spc="200" sz="2200">
                <a:solidFill>
                  <a:srgbClr val="262626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47" name="Picture Placeholder 2"/>
          <p:cNvSpPr/>
          <p:nvPr>
            <p:ph type="pic" idx="21"/>
          </p:nvPr>
        </p:nvSpPr>
        <p:spPr>
          <a:xfrm>
            <a:off x="6095998" y="0"/>
            <a:ext cx="6102099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48" name="Body Level One…"/>
          <p:cNvSpPr txBox="1"/>
          <p:nvPr>
            <p:ph type="body" sz="quarter" idx="1"/>
          </p:nvPr>
        </p:nvSpPr>
        <p:spPr>
          <a:xfrm>
            <a:off x="1115566" y="3549917"/>
            <a:ext cx="3794762" cy="219403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SzTx/>
              <a:buFontTx/>
              <a:buNone/>
              <a:defRPr sz="15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  <a:lvl2pPr marL="0" indent="0" algn="ctr">
              <a:lnSpc>
                <a:spcPct val="100000"/>
              </a:lnSpc>
              <a:buSzTx/>
              <a:buFontTx/>
              <a:buNone/>
              <a:defRPr sz="15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2pPr>
            <a:lvl3pPr marL="0" indent="0" algn="ctr">
              <a:lnSpc>
                <a:spcPct val="100000"/>
              </a:lnSpc>
              <a:buSzTx/>
              <a:buFontTx/>
              <a:buNone/>
              <a:defRPr sz="15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3pPr>
            <a:lvl4pPr marL="0" indent="0" algn="ctr">
              <a:lnSpc>
                <a:spcPct val="100000"/>
              </a:lnSpc>
              <a:buSzTx/>
              <a:buFontTx/>
              <a:buNone/>
              <a:defRPr sz="15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4pPr>
            <a:lvl5pPr marL="0" indent="0" algn="ctr">
              <a:lnSpc>
                <a:spcPct val="100000"/>
              </a:lnSpc>
              <a:buSzTx/>
              <a:buFontTx/>
              <a:buNone/>
              <a:defRPr sz="15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9" name="Slide Number"/>
          <p:cNvSpPr txBox="1"/>
          <p:nvPr>
            <p:ph type="sldNum" sz="quarter" idx="2"/>
          </p:nvPr>
        </p:nvSpPr>
        <p:spPr>
          <a:xfrm>
            <a:off x="10758922" y="6299962"/>
            <a:ext cx="365762" cy="201677"/>
          </a:xfrm>
          <a:prstGeom prst="rect">
            <a:avLst/>
          </a:prstGeom>
          <a:solidFill>
            <a:srgbClr val="1D1D1D">
              <a:alpha val="70000"/>
            </a:srgbClr>
          </a:solidFill>
        </p:spPr>
        <p:txBody>
          <a:bodyPr wrap="square" lIns="18288" tIns="18288" rIns="18288" bIns="18288"/>
          <a:lstStyle>
            <a:lvl1pPr algn="ctr">
              <a:defRPr sz="1100"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0147" y="6404293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1"/>
          <p:cNvSpPr/>
          <p:nvPr/>
        </p:nvSpPr>
        <p:spPr>
          <a:xfrm>
            <a:off x="-1" y="-2"/>
            <a:ext cx="12191697" cy="73156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259" name="Rectangle 2"/>
          <p:cNvSpPr/>
          <p:nvPr/>
        </p:nvSpPr>
        <p:spPr>
          <a:xfrm>
            <a:off x="-1" y="6784847"/>
            <a:ext cx="12191697" cy="7315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260" name="TextBox 3"/>
          <p:cNvSpPr txBox="1"/>
          <p:nvPr/>
        </p:nvSpPr>
        <p:spPr>
          <a:xfrm>
            <a:off x="1417319" y="1188720"/>
            <a:ext cx="9326882" cy="1287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4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Training-Time Architecture vs.</a:t>
            </a:r>
            <a:br/>
            <a:r>
              <a:t>Inference-Time Architecture</a:t>
            </a:r>
          </a:p>
        </p:txBody>
      </p:sp>
      <p:sp>
        <p:nvSpPr>
          <p:cNvPr id="261" name="TextBox 4"/>
          <p:cNvSpPr txBox="1"/>
          <p:nvPr/>
        </p:nvSpPr>
        <p:spPr>
          <a:xfrm>
            <a:off x="1417319" y="2651761"/>
            <a:ext cx="9326882" cy="421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Why One Accelerator Cannot Efficiently Do Both</a:t>
            </a:r>
          </a:p>
        </p:txBody>
      </p:sp>
      <p:sp>
        <p:nvSpPr>
          <p:cNvPr id="262" name="TextBox 5"/>
          <p:cNvSpPr txBox="1"/>
          <p:nvPr/>
        </p:nvSpPr>
        <p:spPr>
          <a:xfrm>
            <a:off x="1417319" y="3291841"/>
            <a:ext cx="9326882" cy="372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 Survey of Architectural Specialization for AI Workloads</a:t>
            </a:r>
          </a:p>
        </p:txBody>
      </p:sp>
      <p:sp>
        <p:nvSpPr>
          <p:cNvPr id="263" name="TextBox 7"/>
          <p:cNvSpPr txBox="1"/>
          <p:nvPr/>
        </p:nvSpPr>
        <p:spPr>
          <a:xfrm>
            <a:off x="1417319" y="4212260"/>
            <a:ext cx="9326882" cy="615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CECS 530 - Advanced Computer Architecture I  |  Project 8</a:t>
            </a:r>
          </a:p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Presented by: Karthik Kovi, Mohit Krishna Emani, Abishek Mannam</a:t>
            </a:r>
          </a:p>
        </p:txBody>
      </p:sp>
      <p:sp>
        <p:nvSpPr>
          <p:cNvPr id="264" name="Rectangle 3"/>
          <p:cNvSpPr/>
          <p:nvPr/>
        </p:nvSpPr>
        <p:spPr>
          <a:xfrm>
            <a:off x="3439884" y="3949117"/>
            <a:ext cx="5373191" cy="45720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267" name="TextBox 2"/>
          <p:cNvSpPr txBox="1"/>
          <p:nvPr/>
        </p:nvSpPr>
        <p:spPr>
          <a:xfrm>
            <a:off x="777240" y="696687"/>
            <a:ext cx="9966961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Presentation Outline</a:t>
            </a:r>
          </a:p>
        </p:txBody>
      </p:sp>
      <p:sp>
        <p:nvSpPr>
          <p:cNvPr id="268" name="Rectangle 3"/>
          <p:cNvSpPr/>
          <p:nvPr/>
        </p:nvSpPr>
        <p:spPr>
          <a:xfrm>
            <a:off x="731519" y="1245326"/>
            <a:ext cx="2286002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269" name="TextBox 4"/>
          <p:cNvSpPr txBox="1"/>
          <p:nvPr/>
        </p:nvSpPr>
        <p:spPr>
          <a:xfrm>
            <a:off x="777240" y="1611087"/>
            <a:ext cx="9966961" cy="4131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1. Introduction and Background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2. Motivation - Why This Matters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3. Problem Statement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4. Research Focus - Comparison Dimensions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5. Related Research - Reference Implementations (5 systems)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6. Comparative Analysis of All Proposed Solutions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7. Implementation &amp; Results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8. Conclusion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9. References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272" name="TextBox 2"/>
          <p:cNvSpPr txBox="1"/>
          <p:nvPr/>
        </p:nvSpPr>
        <p:spPr>
          <a:xfrm>
            <a:off x="768531" y="679270"/>
            <a:ext cx="9966961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1. What is Training?</a:t>
            </a:r>
          </a:p>
        </p:txBody>
      </p:sp>
      <p:sp>
        <p:nvSpPr>
          <p:cNvPr id="273" name="Rectangle 3"/>
          <p:cNvSpPr/>
          <p:nvPr/>
        </p:nvSpPr>
        <p:spPr>
          <a:xfrm>
            <a:off x="722811" y="1227907"/>
            <a:ext cx="2286002" cy="45721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274" name="TextBox 4"/>
          <p:cNvSpPr txBox="1"/>
          <p:nvPr/>
        </p:nvSpPr>
        <p:spPr>
          <a:xfrm>
            <a:off x="768530" y="1593668"/>
            <a:ext cx="5852163" cy="3091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2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Training teaches by adjusting parameters (weights) to minimize error.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2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Three phases: Forward pass (predictions), Backward pass (compute gradients), Optimizer step (Adam update).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2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Processes huge batches (e.g. 512–2048) simultaneously to keep GPU active.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2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single training run costs millions in compute.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2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Critically Needs: Massive Tensor Core compute + High Memory Capacity.</a:t>
            </a:r>
          </a:p>
        </p:txBody>
      </p:sp>
      <p:graphicFrame>
        <p:nvGraphicFramePr>
          <p:cNvPr id="275" name="Table 5"/>
          <p:cNvGraphicFramePr/>
          <p:nvPr/>
        </p:nvGraphicFramePr>
        <p:xfrm>
          <a:off x="6849292" y="1593669"/>
          <a:ext cx="4572001" cy="2492394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200400"/>
                <a:gridCol w="1371600"/>
              </a:tblGrid>
              <a:tr h="415399"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Memory Footprint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 (1.5B)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</a:tr>
              <a:tr h="415399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Weights (BF16)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3.0 GB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  <a:tr h="415399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Gradients (BF16)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3.0 GB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415399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Optimizer states (FP32)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18.0 GB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  <a:tr h="415399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Activations (B=512)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12–30 GB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415399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36–54 GB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278" name="TextBox 2"/>
          <p:cNvSpPr txBox="1"/>
          <p:nvPr/>
        </p:nvSpPr>
        <p:spPr>
          <a:xfrm>
            <a:off x="759822" y="714104"/>
            <a:ext cx="9966961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1. What is Inference?</a:t>
            </a:r>
          </a:p>
        </p:txBody>
      </p:sp>
      <p:sp>
        <p:nvSpPr>
          <p:cNvPr id="279" name="Rectangle 3"/>
          <p:cNvSpPr/>
          <p:nvPr/>
        </p:nvSpPr>
        <p:spPr>
          <a:xfrm>
            <a:off x="714102" y="1262742"/>
            <a:ext cx="2286001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280" name="TextBox 4"/>
          <p:cNvSpPr txBox="1"/>
          <p:nvPr/>
        </p:nvSpPr>
        <p:spPr>
          <a:xfrm>
            <a:off x="759821" y="1628502"/>
            <a:ext cx="5852162" cy="3091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2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Inference is using the trained model to make predictions (autoregressive token generation).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2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Two phases: Prefill (process whole prompt) and Decode (generate output </a:t>
            </a:r>
            <a:r>
              <a:t>one by one</a:t>
            </a:r>
            <a:r>
              <a:t>).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2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Decode phase bottleneck: Cannot parallelize across output tokens.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2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 gradients, no optimizer states.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2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New structure: KV-cache to avoid recomputation of attention states.</a:t>
            </a:r>
          </a:p>
        </p:txBody>
      </p:sp>
      <p:graphicFrame>
        <p:nvGraphicFramePr>
          <p:cNvPr id="281" name="Table 5"/>
          <p:cNvGraphicFramePr/>
          <p:nvPr/>
        </p:nvGraphicFramePr>
        <p:xfrm>
          <a:off x="6840580" y="1628501"/>
          <a:ext cx="4572001" cy="27432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2004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Memory Footprint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 (1.5B INT8)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Weights (INT8)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 GB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KV-cache (B=1, S=2048)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 GB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KV-cache (B=32, S=2048)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20.1 GB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Gradients / Optimizer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None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(B=1)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~2.1 GB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</a:p>
        </p:txBody>
      </p:sp>
      <p:sp>
        <p:nvSpPr>
          <p:cNvPr id="284" name="TextBox 2"/>
          <p:cNvSpPr txBox="1"/>
          <p:nvPr/>
        </p:nvSpPr>
        <p:spPr>
          <a:xfrm>
            <a:off x="751114" y="600891"/>
            <a:ext cx="9966961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Key Architecture Terminology</a:t>
            </a:r>
          </a:p>
        </p:txBody>
      </p:sp>
      <p:sp>
        <p:nvSpPr>
          <p:cNvPr id="285" name="Rectangle 3"/>
          <p:cNvSpPr/>
          <p:nvPr/>
        </p:nvSpPr>
        <p:spPr>
          <a:xfrm>
            <a:off x="705394" y="1149530"/>
            <a:ext cx="2286001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</a:p>
        </p:txBody>
      </p:sp>
      <p:graphicFrame>
        <p:nvGraphicFramePr>
          <p:cNvPr id="286" name="Table 4"/>
          <p:cNvGraphicFramePr/>
          <p:nvPr/>
        </p:nvGraphicFramePr>
        <p:xfrm>
          <a:off x="705394" y="1515291"/>
          <a:ext cx="10698481" cy="4572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468880"/>
                <a:gridCol w="8229600"/>
              </a:tblGrid>
              <a:tr h="571500"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 It Means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FLOPS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Floating-point operations per second (Compute Peak).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Memory Bandwidth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GB/s of data moving between logic and memory.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Arithmetic Intensity (AI)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FLOPs</a:t>
                      </a:r>
                      <a:r>
                        <a:t>/</a:t>
                      </a:r>
                      <a:r>
                        <a:t>bytes of memory traffic (crucial metric).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Roofline Model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Plots achievable performance based on AI and limits.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BF16 / INT8 / INT4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 formats. Smaller = less memory bandwidth used.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KV-Cache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Stored keys/values from past inference tokens.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HBM vs SRAM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HBM is external large capacity. SRAM is ultra-fast on-chip logic.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</a:p>
        </p:txBody>
      </p:sp>
      <p:sp>
        <p:nvSpPr>
          <p:cNvPr id="289" name="TextBox 2"/>
          <p:cNvSpPr txBox="1"/>
          <p:nvPr/>
        </p:nvSpPr>
        <p:spPr>
          <a:xfrm>
            <a:off x="785948" y="731520"/>
            <a:ext cx="9966961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2. Motivation - The Economic Argument</a:t>
            </a:r>
          </a:p>
        </p:txBody>
      </p:sp>
      <p:sp>
        <p:nvSpPr>
          <p:cNvPr id="290" name="Rectangle 3"/>
          <p:cNvSpPr/>
          <p:nvPr/>
        </p:nvSpPr>
        <p:spPr>
          <a:xfrm>
            <a:off x="740227" y="1280160"/>
            <a:ext cx="2286002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</a:p>
        </p:txBody>
      </p:sp>
      <p:sp>
        <p:nvSpPr>
          <p:cNvPr id="291" name="TextBox 4"/>
          <p:cNvSpPr txBox="1"/>
          <p:nvPr/>
        </p:nvSpPr>
        <p:spPr>
          <a:xfrm>
            <a:off x="785948" y="1645921"/>
            <a:ext cx="6309362" cy="2558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2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Inference accounts for 90%+ of total compute hours in production.</a:t>
            </a:r>
            <a:endParaRPr>
              <a:solidFill>
                <a:srgbClr val="333333"/>
              </a:solidFill>
            </a:endParaRPr>
          </a:p>
          <a:p>
            <a:pPr>
              <a:spcBef>
                <a:spcPts val="12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Using training hardware for inference is exceptionally wasteful:</a:t>
            </a:r>
            <a:endParaRPr>
              <a:solidFill>
                <a:srgbClr val="333333"/>
              </a:solidFill>
            </a:endParaRPr>
          </a:p>
          <a:p>
            <a:pPr marL="285750" indent="-112712">
              <a:spcBef>
                <a:spcPts val="1200"/>
              </a:spcBef>
              <a:buSzPct val="100000"/>
              <a:buChar char="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A training GPU uses &lt;1% of its compute during inference decode.</a:t>
            </a:r>
            <a:endParaRPr>
              <a:solidFill>
                <a:srgbClr val="333333"/>
              </a:solidFill>
            </a:endParaRPr>
          </a:p>
          <a:p>
            <a:pPr marL="285750" indent="-112712">
              <a:spcBef>
                <a:spcPts val="1200"/>
              </a:spcBef>
              <a:buSzPct val="100000"/>
              <a:buChar char="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The chip still draws huge power (300W+) while idle.</a:t>
            </a:r>
            <a:endParaRPr>
              <a:solidFill>
                <a:srgbClr val="333333"/>
              </a:solidFill>
            </a:endParaRPr>
          </a:p>
          <a:p>
            <a:pPr>
              <a:spcBef>
                <a:spcPts val="12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Opportunity: Purpose-built inference ASICs can be drastically cheaper and save 7–9× on TCO.</a:t>
            </a:r>
          </a:p>
        </p:txBody>
      </p:sp>
      <p:graphicFrame>
        <p:nvGraphicFramePr>
          <p:cNvPr id="292" name="Table 5"/>
          <p:cNvGraphicFramePr/>
          <p:nvPr/>
        </p:nvGraphicFramePr>
        <p:xfrm>
          <a:off x="7323907" y="1645920"/>
          <a:ext cx="4114801" cy="27432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Cost Breakdown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H100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ASIC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Chips needed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 cost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$360K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$27K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3-year TCO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~$400K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~$28K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~14× cheaper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</a:p>
        </p:txBody>
      </p:sp>
      <p:sp>
        <p:nvSpPr>
          <p:cNvPr id="295" name="TextBox 2"/>
          <p:cNvSpPr txBox="1"/>
          <p:nvPr/>
        </p:nvSpPr>
        <p:spPr>
          <a:xfrm>
            <a:off x="777239" y="365759"/>
            <a:ext cx="9966961" cy="48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2. Motivation - The Technical Mismatch</a:t>
            </a:r>
          </a:p>
        </p:txBody>
      </p:sp>
      <p:sp>
        <p:nvSpPr>
          <p:cNvPr id="296" name="Rectangle 3"/>
          <p:cNvSpPr/>
          <p:nvPr/>
        </p:nvSpPr>
        <p:spPr>
          <a:xfrm>
            <a:off x="731519" y="914399"/>
            <a:ext cx="2286001" cy="36579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</a:p>
        </p:txBody>
      </p:sp>
      <p:graphicFrame>
        <p:nvGraphicFramePr>
          <p:cNvPr id="297" name="Table 4"/>
          <p:cNvGraphicFramePr/>
          <p:nvPr/>
        </p:nvGraphicFramePr>
        <p:xfrm>
          <a:off x="731519" y="1188719"/>
          <a:ext cx="10698481" cy="4572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828800"/>
                <a:gridCol w="3200400"/>
                <a:gridCol w="3200400"/>
                <a:gridCol w="2468880"/>
              </a:tblGrid>
              <a:tr h="653142"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Dimension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Needs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Needs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Conflict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Primary bottleneck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CFE1CC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 (FLOPS)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CFE1CC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Memory bandwidth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CFE1CC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Opposing limits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CFE1C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Batch size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Large: 512–2048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Small: 1–64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Opposing configs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CFE1CC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BF16 / FP32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CFE1CC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INT4 / INT8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CFE1CC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Different ALUs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CFE1C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Memory contents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Huge (Weights+Gradients+Adam)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 (Weights+KV)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Capacity vs BW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Parallelism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CFE1CC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Data/Tensor/Pipeline (NVLink)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CFE1CC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Minimal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CFE1CC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Wasted interconnect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CFE1CC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 budget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400–700W is okay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50–100W desired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Different cooling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00" name="TextBox 2"/>
          <p:cNvSpPr txBox="1"/>
          <p:nvPr/>
        </p:nvSpPr>
        <p:spPr>
          <a:xfrm>
            <a:off x="803364" y="705395"/>
            <a:ext cx="9966961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3. Problem Statement</a:t>
            </a:r>
          </a:p>
        </p:txBody>
      </p:sp>
      <p:sp>
        <p:nvSpPr>
          <p:cNvPr id="301" name="Rectangle 3"/>
          <p:cNvSpPr/>
          <p:nvPr/>
        </p:nvSpPr>
        <p:spPr>
          <a:xfrm>
            <a:off x="757644" y="1254034"/>
            <a:ext cx="2286002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02" name="TextBox 4"/>
          <p:cNvSpPr txBox="1"/>
          <p:nvPr/>
        </p:nvSpPr>
        <p:spPr>
          <a:xfrm>
            <a:off x="803363" y="1711233"/>
            <a:ext cx="10607044" cy="83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Can a single hardware accelerator efficiently serve both training and inference workloads for massive LLMs?</a:t>
            </a:r>
          </a:p>
        </p:txBody>
      </p:sp>
      <p:sp>
        <p:nvSpPr>
          <p:cNvPr id="303" name="TextBox 5"/>
          <p:cNvSpPr txBox="1"/>
          <p:nvPr/>
        </p:nvSpPr>
        <p:spPr>
          <a:xfrm>
            <a:off x="803363" y="2808514"/>
            <a:ext cx="10607044" cy="254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We </a:t>
            </a:r>
            <a:r>
              <a:t>analyze</a:t>
            </a:r>
            <a:r>
              <a:t> this question through three </a:t>
            </a:r>
            <a:r>
              <a:t>metrics</a:t>
            </a:r>
            <a:r>
              <a:t>: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(a) Workload characterization - quantify AI, memory, and control differences.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(b) Architecture evaluation - map H100 vs Inference-ASIC successes and failures.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(c) Specialized design - evaluate the efficiency gap between setups.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We survey </a:t>
            </a:r>
            <a:r>
              <a:t>5 </a:t>
            </a:r>
            <a:r>
              <a:t>reference implementations (Megatron, DeepSpeed, vLLM, llama.cpp, TVM) to </a:t>
            </a:r>
            <a:r>
              <a:t>support</a:t>
            </a:r>
            <a:r>
              <a:t> this architectural divide.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06" name="TextBox 2"/>
          <p:cNvSpPr txBox="1"/>
          <p:nvPr/>
        </p:nvSpPr>
        <p:spPr>
          <a:xfrm>
            <a:off x="759823" y="705395"/>
            <a:ext cx="9966961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4. Research Focus - Comparison Dimensions</a:t>
            </a:r>
          </a:p>
        </p:txBody>
      </p:sp>
      <p:sp>
        <p:nvSpPr>
          <p:cNvPr id="307" name="Rectangle 3"/>
          <p:cNvSpPr/>
          <p:nvPr/>
        </p:nvSpPr>
        <p:spPr>
          <a:xfrm>
            <a:off x="714103" y="1254034"/>
            <a:ext cx="2286002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08" name="TextBox 4"/>
          <p:cNvSpPr txBox="1"/>
          <p:nvPr/>
        </p:nvSpPr>
        <p:spPr>
          <a:xfrm>
            <a:off x="759821" y="1711233"/>
            <a:ext cx="10607044" cy="2353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6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Parallelism Structure: </a:t>
            </a:r>
            <a:r>
              <a:rPr b="0"/>
              <a:t>Training spans GPUs via NVLink; inference is constrained.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6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Memory Behavior: </a:t>
            </a:r>
            <a:r>
              <a:rPr b="0"/>
              <a:t>Training needs static capacity; inference needs dynamic KV paging.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6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Precision &amp; Numerics: </a:t>
            </a:r>
            <a:r>
              <a:rPr b="0"/>
              <a:t>Training requires BF16 gradient stability; inference quantizes.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6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Control Flow: </a:t>
            </a:r>
            <a:r>
              <a:rPr b="0"/>
              <a:t>Training is a static graph; inference is totally dynamic.</a:t>
            </a:r>
            <a:endParaRPr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600"/>
              </a:spcBef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Optimization Objective: </a:t>
            </a:r>
            <a:r>
              <a:rPr b="0"/>
              <a:t>Training seeks total throughput; inference seeks token latency.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Rectangle 1"/>
          <p:cNvSpPr/>
          <p:nvPr/>
        </p:nvSpPr>
        <p:spPr>
          <a:xfrm>
            <a:off x="-1" y="-2"/>
            <a:ext cx="12191697" cy="73156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11" name="Rectangle 2"/>
          <p:cNvSpPr/>
          <p:nvPr/>
        </p:nvSpPr>
        <p:spPr>
          <a:xfrm>
            <a:off x="-1" y="6784847"/>
            <a:ext cx="12191697" cy="7315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12" name="TextBox 3"/>
          <p:cNvSpPr txBox="1"/>
          <p:nvPr/>
        </p:nvSpPr>
        <p:spPr>
          <a:xfrm>
            <a:off x="1417319" y="2286000"/>
            <a:ext cx="9326882" cy="629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3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5. Related Research</a:t>
            </a:r>
          </a:p>
        </p:txBody>
      </p:sp>
      <p:sp>
        <p:nvSpPr>
          <p:cNvPr id="313" name="Rectangle 4"/>
          <p:cNvSpPr/>
          <p:nvPr/>
        </p:nvSpPr>
        <p:spPr>
          <a:xfrm>
            <a:off x="3657598" y="3200399"/>
            <a:ext cx="4846323" cy="36579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14" name="TextBox 5"/>
          <p:cNvSpPr txBox="1"/>
          <p:nvPr/>
        </p:nvSpPr>
        <p:spPr>
          <a:xfrm>
            <a:off x="1417319" y="3474721"/>
            <a:ext cx="9326882" cy="372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Reference Implementations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17" name="TextBox 2"/>
          <p:cNvSpPr txBox="1"/>
          <p:nvPr/>
        </p:nvSpPr>
        <p:spPr>
          <a:xfrm>
            <a:off x="812073" y="705395"/>
            <a:ext cx="9966961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Megatron-LM - Training at Scale</a:t>
            </a:r>
          </a:p>
        </p:txBody>
      </p:sp>
      <p:sp>
        <p:nvSpPr>
          <p:cNvPr id="318" name="Rectangle 3"/>
          <p:cNvSpPr/>
          <p:nvPr/>
        </p:nvSpPr>
        <p:spPr>
          <a:xfrm>
            <a:off x="766352" y="1254034"/>
            <a:ext cx="2286002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19" name="TextBox 4"/>
          <p:cNvSpPr txBox="1"/>
          <p:nvPr/>
        </p:nvSpPr>
        <p:spPr>
          <a:xfrm>
            <a:off x="812072" y="1619796"/>
            <a:ext cx="10607044" cy="2215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Problem: </a:t>
            </a:r>
            <a:r>
              <a:rPr b="0"/>
              <a:t>Massive models (billions of parameters) do not fit on a single GPU's memory.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Solution: </a:t>
            </a:r>
            <a:r>
              <a:rPr b="0"/>
              <a:t>Intra-layer tensor parallelism. Splits individual weight matrices across GPUs. Calculates portions of the GEMM then combines via AllReduce.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Results: </a:t>
            </a:r>
            <a:r>
              <a:rPr b="0"/>
              <a:t>Scaled GPT architectures across 512 GPUs with 76% scaling efficiency and near Peak PFLOPS.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Architectural Needs: </a:t>
            </a:r>
            <a:r>
              <a:rPr b="0"/>
              <a:t>Demonstrates that training requires 600+ GB/s high-bandwidth device interconnects (NVLink) to mask communication latency.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22" name="TextBox 2"/>
          <p:cNvSpPr txBox="1"/>
          <p:nvPr/>
        </p:nvSpPr>
        <p:spPr>
          <a:xfrm>
            <a:off x="777239" y="696687"/>
            <a:ext cx="9966961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DeepSpeed ZeRO - Memory-Efficient Training</a:t>
            </a:r>
          </a:p>
        </p:txBody>
      </p:sp>
      <p:sp>
        <p:nvSpPr>
          <p:cNvPr id="323" name="Rectangle 3"/>
          <p:cNvSpPr/>
          <p:nvPr/>
        </p:nvSpPr>
        <p:spPr>
          <a:xfrm>
            <a:off x="731519" y="1245326"/>
            <a:ext cx="2286001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24" name="TextBox 4"/>
          <p:cNvSpPr txBox="1"/>
          <p:nvPr/>
        </p:nvSpPr>
        <p:spPr>
          <a:xfrm>
            <a:off x="777238" y="1611085"/>
            <a:ext cx="10607044" cy="248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Problem: </a:t>
            </a:r>
            <a:r>
              <a:rPr b="0"/>
              <a:t>Standard data parallelism wastes memory by forcing every GPU to store full copies of optimizer states and gradients (e.g. 84 GB per GPU for a 7B model).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Solution: </a:t>
            </a:r>
            <a:r>
              <a:rPr b="0"/>
              <a:t>ZeRO (Zero Redundancy Optimizer) partitions optimizer states, gradients, and weights across GPUs.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Results: </a:t>
            </a:r>
            <a:r>
              <a:rPr b="0"/>
              <a:t>Enables training up to 1 Trillion parameters. Linear memory scaling with a 1.5× communication cost penalty.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Architectural Needs: </a:t>
            </a:r>
            <a:r>
              <a:rPr b="0"/>
              <a:t>Validates that during training, High Memory Capacity and Interconnect Bandwidth are the absolutely critical limiters.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27" name="TextBox 2"/>
          <p:cNvSpPr txBox="1"/>
          <p:nvPr/>
        </p:nvSpPr>
        <p:spPr>
          <a:xfrm>
            <a:off x="785947" y="722812"/>
            <a:ext cx="9966961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vLLM - Inference Memory Management</a:t>
            </a:r>
          </a:p>
        </p:txBody>
      </p:sp>
      <p:sp>
        <p:nvSpPr>
          <p:cNvPr id="328" name="Rectangle 3"/>
          <p:cNvSpPr/>
          <p:nvPr/>
        </p:nvSpPr>
        <p:spPr>
          <a:xfrm>
            <a:off x="740227" y="1271452"/>
            <a:ext cx="2286001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29" name="TextBox 4"/>
          <p:cNvSpPr txBox="1"/>
          <p:nvPr/>
        </p:nvSpPr>
        <p:spPr>
          <a:xfrm>
            <a:off x="785946" y="1637213"/>
            <a:ext cx="10607044" cy="2482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Problem: </a:t>
            </a:r>
            <a:r>
              <a:rPr b="0"/>
              <a:t>KV-cache grows dynamically per request. Traditional pre-allocation wastes 60–80% of GPU memory via fragmentation, choking throughput.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Solution: </a:t>
            </a:r>
            <a:r>
              <a:rPr b="0"/>
              <a:t>PagedAttention. Borrows OS virtual memory concepts to store KV-cache in non-contiguous, dynamic pages.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Results: </a:t>
            </a:r>
            <a:r>
              <a:rPr b="0"/>
              <a:t>2-4× higher serving throughput than FasterTransformer with near-zero waste.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Architectural Needs: </a:t>
            </a:r>
            <a:r>
              <a:rPr b="0"/>
              <a:t>Inference chips need dynamic memory management (paging, eviction) which is totally absent in static training logic.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32" name="TextBox 2"/>
          <p:cNvSpPr txBox="1"/>
          <p:nvPr/>
        </p:nvSpPr>
        <p:spPr>
          <a:xfrm>
            <a:off x="785947" y="705395"/>
            <a:ext cx="9966961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llama.cpp - Quantized Inference Everywhere</a:t>
            </a:r>
          </a:p>
        </p:txBody>
      </p:sp>
      <p:sp>
        <p:nvSpPr>
          <p:cNvPr id="333" name="Rectangle 3"/>
          <p:cNvSpPr/>
          <p:nvPr/>
        </p:nvSpPr>
        <p:spPr>
          <a:xfrm>
            <a:off x="740227" y="1254034"/>
            <a:ext cx="2286001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34" name="TextBox 4"/>
          <p:cNvSpPr txBox="1"/>
          <p:nvPr/>
        </p:nvSpPr>
        <p:spPr>
          <a:xfrm>
            <a:off x="785946" y="1619793"/>
            <a:ext cx="10607044" cy="2215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Problem: </a:t>
            </a:r>
            <a:r>
              <a:rPr b="0"/>
              <a:t>Inference is inherently memory-bandwidth-bound, leaving GPU compute idle. Can simpler hardware do the job?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Solution: </a:t>
            </a:r>
            <a:r>
              <a:rPr b="0"/>
              <a:t>Pure C/C++ backend doing aggressive INT4 quantization to reduce memory traffic by 4×.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Results: </a:t>
            </a:r>
            <a:r>
              <a:rPr b="0"/>
              <a:t>Runs LLaMA-7B smoothly on a MacBook M1 with &lt;1% perplexity loss.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Architectural Insight: </a:t>
            </a:r>
            <a:r>
              <a:rPr b="0"/>
              <a:t>Proves that for inference, reducing data movement (BW) matters far more than throwing useless 300+ TFLOP architectures at the problem.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37" name="TextBox 2"/>
          <p:cNvSpPr txBox="1"/>
          <p:nvPr/>
        </p:nvSpPr>
        <p:spPr>
          <a:xfrm>
            <a:off x="794656" y="696687"/>
            <a:ext cx="9966961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TVM - Compiler Infrastructure</a:t>
            </a:r>
          </a:p>
        </p:txBody>
      </p:sp>
      <p:sp>
        <p:nvSpPr>
          <p:cNvPr id="338" name="Rectangle 3"/>
          <p:cNvSpPr/>
          <p:nvPr/>
        </p:nvSpPr>
        <p:spPr>
          <a:xfrm>
            <a:off x="748936" y="1245326"/>
            <a:ext cx="2286002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39" name="TextBox 4"/>
          <p:cNvSpPr txBox="1"/>
          <p:nvPr/>
        </p:nvSpPr>
        <p:spPr>
          <a:xfrm>
            <a:off x="794655" y="1611085"/>
            <a:ext cx="10607044" cy="1948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Problem: </a:t>
            </a:r>
            <a:r>
              <a:rPr b="0"/>
              <a:t>Hand-tuning DL operations for diverse heterogeneous hardware is impossible.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Solution: </a:t>
            </a:r>
            <a:r>
              <a:rPr b="0"/>
              <a:t>An automated end-to-end optimizing compiler with a learned cost model to search instruction spaces.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Results: </a:t>
            </a:r>
            <a:r>
              <a:rPr b="0"/>
              <a:t>Matches or exceeds hand-tuned C++/CUDA libraries.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Architectural Insight: </a:t>
            </a:r>
            <a:r>
              <a:rPr b="0"/>
              <a:t>Software compilers can squeeze the hardware entirely, but they </a:t>
            </a:r>
            <a:r>
              <a:rPr b="0"/>
              <a:t>can not</a:t>
            </a:r>
            <a:r>
              <a:rPr b="0"/>
              <a:t> break the physical Roofline. Software cannot make a compute-heavy chip efficient at a memory-heavy task.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42" name="TextBox 2"/>
          <p:cNvSpPr txBox="1"/>
          <p:nvPr/>
        </p:nvSpPr>
        <p:spPr>
          <a:xfrm>
            <a:off x="785948" y="687976"/>
            <a:ext cx="9966961" cy="48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Comparative Analysis of Surveyed Systems</a:t>
            </a:r>
          </a:p>
        </p:txBody>
      </p:sp>
      <p:sp>
        <p:nvSpPr>
          <p:cNvPr id="343" name="Rectangle 3"/>
          <p:cNvSpPr/>
          <p:nvPr/>
        </p:nvSpPr>
        <p:spPr>
          <a:xfrm>
            <a:off x="740227" y="1236615"/>
            <a:ext cx="2286002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graphicFrame>
        <p:nvGraphicFramePr>
          <p:cNvPr id="344" name="Table 4"/>
          <p:cNvGraphicFramePr/>
          <p:nvPr/>
        </p:nvGraphicFramePr>
        <p:xfrm>
          <a:off x="740227" y="1602376"/>
          <a:ext cx="10698482" cy="36576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828800"/>
                <a:gridCol w="1371600"/>
                <a:gridCol w="2743200"/>
                <a:gridCol w="2286000"/>
                <a:gridCol w="2468880"/>
              </a:tblGrid>
              <a:tr h="609600"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Technique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Perf. Gain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HW Req.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Megatron-LM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Tensor parallelism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76% scaling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NVLink 600 GB/s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DeepSpeed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ZeRO Sharding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10× memory save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HBM+Interconnect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vLLM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PagedAttention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2-4× throughput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Dynamic Paging HW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llama.cpp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Quantization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4× BW cut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INT4 / INT8 ALUs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TVM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Compiler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Auto-compiling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Peak logic fit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Flexible backend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5"/>
          <p:cNvSpPr txBox="1"/>
          <p:nvPr/>
        </p:nvSpPr>
        <p:spPr>
          <a:xfrm>
            <a:off x="785947" y="5625737"/>
            <a:ext cx="10607044" cy="540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Pattern: Training systems optimize scaling and memory capacity via NVLink. Inference systems optimize dynamic scheduling and pure bandwidth.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ectangle 1"/>
          <p:cNvSpPr/>
          <p:nvPr/>
        </p:nvSpPr>
        <p:spPr>
          <a:xfrm>
            <a:off x="-1" y="-2"/>
            <a:ext cx="12191697" cy="73156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48" name="Rectangle 2"/>
          <p:cNvSpPr/>
          <p:nvPr/>
        </p:nvSpPr>
        <p:spPr>
          <a:xfrm>
            <a:off x="-1" y="6784847"/>
            <a:ext cx="12191697" cy="7315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49" name="TextBox 3"/>
          <p:cNvSpPr txBox="1"/>
          <p:nvPr/>
        </p:nvSpPr>
        <p:spPr>
          <a:xfrm>
            <a:off x="1417319" y="2286001"/>
            <a:ext cx="9326882" cy="629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3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7. Implementation &amp; Results</a:t>
            </a:r>
          </a:p>
        </p:txBody>
      </p:sp>
      <p:sp>
        <p:nvSpPr>
          <p:cNvPr id="350" name="Rectangle 4"/>
          <p:cNvSpPr/>
          <p:nvPr/>
        </p:nvSpPr>
        <p:spPr>
          <a:xfrm>
            <a:off x="3657598" y="3200399"/>
            <a:ext cx="4846323" cy="36579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51" name="TextBox 5"/>
          <p:cNvSpPr txBox="1"/>
          <p:nvPr/>
        </p:nvSpPr>
        <p:spPr>
          <a:xfrm>
            <a:off x="1417319" y="3474721"/>
            <a:ext cx="9326882" cy="372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Analytical framework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54" name="TextBox 2"/>
          <p:cNvSpPr txBox="1"/>
          <p:nvPr/>
        </p:nvSpPr>
        <p:spPr>
          <a:xfrm>
            <a:off x="751114" y="731520"/>
            <a:ext cx="9966961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Implementation - Framework</a:t>
            </a:r>
          </a:p>
        </p:txBody>
      </p:sp>
      <p:sp>
        <p:nvSpPr>
          <p:cNvPr id="355" name="Rectangle 3"/>
          <p:cNvSpPr/>
          <p:nvPr/>
        </p:nvSpPr>
        <p:spPr>
          <a:xfrm>
            <a:off x="705394" y="1280160"/>
            <a:ext cx="2286001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56" name="TextBox 4"/>
          <p:cNvSpPr txBox="1"/>
          <p:nvPr/>
        </p:nvSpPr>
        <p:spPr>
          <a:xfrm>
            <a:off x="751112" y="1645921"/>
            <a:ext cx="10607044" cy="348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 configurable Python analytical roofline framework matching the Llama 3 8B Hyperparameters.</a:t>
            </a:r>
          </a:p>
        </p:txBody>
      </p:sp>
      <p:sp>
        <p:nvSpPr>
          <p:cNvPr id="357" name="TextBox 5"/>
          <p:cNvSpPr txBox="1"/>
          <p:nvPr/>
        </p:nvSpPr>
        <p:spPr>
          <a:xfrm>
            <a:off x="751112" y="2286000"/>
            <a:ext cx="10607044" cy="1453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2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Llama 3 8B Parameters: </a:t>
            </a:r>
            <a:r>
              <a:rPr b="0"/>
              <a:t>4096 hidden size, 32 layers, Generative Decoder.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2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Calculates mathematically rigorous Arithmetic Intensity and Memory Access boundaries based on structural hyperparameters rather than theoretical benchmarks.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2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Simulates Training-Time (H100) vs Inference-Time (Specialized ASIC).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60" name="TextBox 2"/>
          <p:cNvSpPr txBox="1"/>
          <p:nvPr/>
        </p:nvSpPr>
        <p:spPr>
          <a:xfrm>
            <a:off x="777239" y="695697"/>
            <a:ext cx="9966961" cy="4827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8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FLOP Counting Model </a:t>
            </a:r>
            <a:r>
              <a:t>-</a:t>
            </a:r>
            <a:r>
              <a:t> 6P vs 2P</a:t>
            </a:r>
          </a:p>
        </p:txBody>
      </p:sp>
      <p:sp>
        <p:nvSpPr>
          <p:cNvPr id="361" name="Rectangle 3"/>
          <p:cNvSpPr/>
          <p:nvPr/>
        </p:nvSpPr>
        <p:spPr>
          <a:xfrm>
            <a:off x="731519" y="1244337"/>
            <a:ext cx="2286001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62" name="TextBox 4"/>
          <p:cNvSpPr txBox="1"/>
          <p:nvPr/>
        </p:nvSpPr>
        <p:spPr>
          <a:xfrm>
            <a:off x="777239" y="1610097"/>
            <a:ext cx="10607042" cy="2884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Training FLOPs per token: </a:t>
            </a:r>
            <a:r>
              <a:rPr b="0"/>
              <a:t>6 × P  =  48.18 × 10⁹  (forward + backward + optimizer)</a:t>
            </a:r>
            <a:endParaRPr b="0"/>
          </a:p>
          <a:p>
            <a:pPr>
              <a:spcBef>
                <a:spcPts val="1200"/>
              </a:spcBef>
              <a:defRPr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Inference FLOPs per token: </a:t>
            </a:r>
            <a:r>
              <a:rPr b="0"/>
              <a:t>2 × P  =  16.06 × 10⁹  (forward pass only)</a:t>
            </a:r>
            <a:endParaRPr b="0"/>
          </a:p>
          <a:p>
            <a:pPr>
              <a:spcBef>
                <a:spcPts val="1200"/>
              </a:spcBef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 = </a:t>
            </a:r>
            <a:r>
              <a:t>~</a:t>
            </a:r>
            <a:r>
              <a:t>8.03B parameters (Llama 3 8B config)</a:t>
            </a:r>
          </a:p>
          <a:p>
            <a:pPr>
              <a:spcBef>
                <a:spcPts val="1200"/>
              </a:spcBef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Per-token FLOPs from python framework:</a:t>
            </a:r>
          </a:p>
          <a:p>
            <a:pPr marL="285750" indent="-109537">
              <a:spcBef>
                <a:spcPts val="1200"/>
              </a:spcBef>
              <a:buSzPct val="100000"/>
              <a:buChar char="➢"/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Training reads are heavily amortized across B=4096.</a:t>
            </a:r>
          </a:p>
          <a:p>
            <a:pPr marL="285750" indent="-109537">
              <a:spcBef>
                <a:spcPts val="1200"/>
              </a:spcBef>
              <a:buSzPct val="100000"/>
              <a:buChar char="➢"/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Inference reads demand massive unamortized weight loading.</a:t>
            </a:r>
          </a:p>
          <a:p>
            <a:pPr marL="285750" indent="-109537">
              <a:spcBef>
                <a:spcPts val="1200"/>
              </a:spcBef>
              <a:buSzPct val="100000"/>
              <a:buChar char="➢"/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Math proves a 53× gap in arithmetic intensity (1,103 vs 20.85 ops/byte)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65" name="TextBox 2"/>
          <p:cNvSpPr txBox="1"/>
          <p:nvPr/>
        </p:nvSpPr>
        <p:spPr>
          <a:xfrm>
            <a:off x="758385" y="629710"/>
            <a:ext cx="9966961" cy="4827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Memory Traffic Model</a:t>
            </a:r>
          </a:p>
        </p:txBody>
      </p:sp>
      <p:sp>
        <p:nvSpPr>
          <p:cNvPr id="366" name="Rectangle 3"/>
          <p:cNvSpPr/>
          <p:nvPr/>
        </p:nvSpPr>
        <p:spPr>
          <a:xfrm>
            <a:off x="712665" y="1178351"/>
            <a:ext cx="2286001" cy="36577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67" name="TextBox 4"/>
          <p:cNvSpPr txBox="1"/>
          <p:nvPr/>
        </p:nvSpPr>
        <p:spPr>
          <a:xfrm>
            <a:off x="758385" y="1544110"/>
            <a:ext cx="10607042" cy="3371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Training Memory Traffic (per token):</a:t>
            </a:r>
            <a:endParaRPr>
              <a:solidFill>
                <a:srgbClr val="333333"/>
              </a:solidFill>
            </a:endParaRPr>
          </a:p>
          <a:p>
            <a:pPr marL="285750" indent="-109537">
              <a:spcBef>
                <a:spcPts val="1000"/>
              </a:spcBef>
              <a:buSzPct val="100000"/>
              <a:buChar char="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Weights</a:t>
            </a:r>
            <a:r>
              <a:rPr b="1"/>
              <a:t>: </a:t>
            </a:r>
            <a:r>
              <a:t>P × (precision_bytes + optimizer_bytes) / B</a:t>
            </a:r>
          </a:p>
          <a:p>
            <a:pPr marL="285750" indent="-109537">
              <a:spcBef>
                <a:spcPts val="1000"/>
              </a:spcBef>
              <a:buSzPct val="100000"/>
              <a:buChar char="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Amortized to ~19.6 MB/token.</a:t>
            </a:r>
            <a:endParaRPr>
              <a:solidFill>
                <a:srgbClr val="333333"/>
              </a:solidFill>
            </a:endParaRPr>
          </a:p>
          <a:p>
            <a:pPr marL="285750" indent="-109537">
              <a:spcBef>
                <a:spcPts val="1000"/>
              </a:spcBef>
              <a:buSzPct val="100000"/>
              <a:buChar char="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Activations addition: ~9.6 MB/token.</a:t>
            </a:r>
          </a:p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Inference Memory Traffic (per token):</a:t>
            </a:r>
            <a:endParaRPr>
              <a:solidFill>
                <a:srgbClr val="333333"/>
              </a:solidFill>
            </a:endParaRPr>
          </a:p>
          <a:p>
            <a:pPr marL="285750" indent="-109537">
              <a:spcBef>
                <a:spcPts val="1000"/>
              </a:spcBef>
              <a:buSzPct val="100000"/>
              <a:buChar char="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Weight loading is pure memory bottleneck: 8.03B × 1 (INT8) / 16 (Batch) = 501.8 MB/tok</a:t>
            </a:r>
            <a:r>
              <a:t>en</a:t>
            </a:r>
          </a:p>
          <a:p>
            <a:pPr marL="285750" indent="-109537">
              <a:spcBef>
                <a:spcPts val="1000"/>
              </a:spcBef>
              <a:buSzPct val="100000"/>
              <a:buChar char="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KV-cache read addition: ~268 MB/tok</a:t>
            </a:r>
            <a:r>
              <a:t>en</a:t>
            </a:r>
          </a:p>
          <a:p>
            <a:pPr>
              <a:spcBef>
                <a:spcPts val="10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Key Insight: </a:t>
            </a:r>
            <a:r>
              <a:rPr b="0"/>
              <a:t>Training is amortized by batch size making it compute-bound. Inference is dominated by KV-cache and weights making it pure memory-bound.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70" name="TextBox 2"/>
          <p:cNvSpPr txBox="1"/>
          <p:nvPr/>
        </p:nvSpPr>
        <p:spPr>
          <a:xfrm>
            <a:off x="748960" y="648563"/>
            <a:ext cx="9966961" cy="4827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8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Bottleneck Model </a:t>
            </a:r>
            <a:r>
              <a:t>-</a:t>
            </a:r>
            <a:r>
              <a:t> Roofline Evaluation</a:t>
            </a:r>
          </a:p>
        </p:txBody>
      </p:sp>
      <p:sp>
        <p:nvSpPr>
          <p:cNvPr id="371" name="Rectangle 3"/>
          <p:cNvSpPr/>
          <p:nvPr/>
        </p:nvSpPr>
        <p:spPr>
          <a:xfrm>
            <a:off x="703240" y="1197203"/>
            <a:ext cx="2286001" cy="36577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72" name="TextBox 4"/>
          <p:cNvSpPr txBox="1"/>
          <p:nvPr/>
        </p:nvSpPr>
        <p:spPr>
          <a:xfrm>
            <a:off x="748959" y="1562963"/>
            <a:ext cx="10607042" cy="3561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Algorithm (computed automatically for all configurations):</a:t>
            </a:r>
          </a:p>
          <a:p>
            <a:pPr>
              <a:spcBef>
                <a:spcPts val="800"/>
              </a:spcBef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- compute_bound_toks/s = peak_flops / flops_per_token</a:t>
            </a:r>
          </a:p>
          <a:p>
            <a:pPr>
              <a:spcBef>
                <a:spcPts val="800"/>
              </a:spcBef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- mem_bound_toks/s = bandwidth / bytes_per_token</a:t>
            </a:r>
          </a:p>
          <a:p>
            <a:pPr>
              <a:spcBef>
                <a:spcPts val="800"/>
              </a:spcBef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- effective_throughput = min(compute_bound, mem_bound)</a:t>
            </a:r>
          </a:p>
          <a:p>
            <a:pPr>
              <a:spcBef>
                <a:spcPts val="800"/>
              </a:spcBef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Energy Model:</a:t>
            </a:r>
          </a:p>
          <a:p>
            <a:pPr>
              <a:spcBef>
                <a:spcPts val="800"/>
              </a:spcBef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- power = TDP × 0.4 (static) + 60% dynamic</a:t>
            </a:r>
          </a:p>
          <a:p>
            <a:pPr>
              <a:spcBef>
                <a:spcPts val="800"/>
              </a:spcBef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- energy = power / effective_throughput</a:t>
            </a:r>
          </a:p>
          <a:p>
            <a:pPr>
              <a:spcBef>
                <a:spcPts val="800"/>
              </a:spcBef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- EDP = energy × (1 / effective_throughput)</a:t>
            </a:r>
          </a:p>
          <a:p>
            <a:pPr>
              <a:spcBef>
                <a:spcPts val="800"/>
              </a:spcBef>
              <a:defRPr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Example (H100 Inference): </a:t>
            </a:r>
            <a:r>
              <a:rPr b="0"/>
              <a:t>Compute capacity is 61,580 tok/s, but limited to 4,348 tok/s by bandwidth. Yields 93% idle silicon compute waste!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75" name="TextBox 2"/>
          <p:cNvSpPr txBox="1"/>
          <p:nvPr/>
        </p:nvSpPr>
        <p:spPr>
          <a:xfrm>
            <a:off x="758387" y="648563"/>
            <a:ext cx="9052561" cy="544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Framework Design </a:t>
            </a:r>
            <a:r>
              <a:t>-</a:t>
            </a:r>
            <a:r>
              <a:t> 4 Modules, YAML-Driven</a:t>
            </a:r>
          </a:p>
        </p:txBody>
      </p:sp>
      <p:sp>
        <p:nvSpPr>
          <p:cNvPr id="376" name="Rectangle 3"/>
          <p:cNvSpPr/>
          <p:nvPr/>
        </p:nvSpPr>
        <p:spPr>
          <a:xfrm>
            <a:off x="712667" y="1197203"/>
            <a:ext cx="2286001" cy="36577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graphicFrame>
        <p:nvGraphicFramePr>
          <p:cNvPr id="377" name="Table 4"/>
          <p:cNvGraphicFramePr/>
          <p:nvPr/>
        </p:nvGraphicFramePr>
        <p:xfrm>
          <a:off x="712667" y="1471524"/>
          <a:ext cx="10698481" cy="2286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828800"/>
                <a:gridCol w="411480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Module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Path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Responsibility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Workload Models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src/workload/ (models, memory, precision, parallelism)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FLOP counting, memory traffic, parallelism taxonomy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Architecture Models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src/architecture/ (models, roofline)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Architecture dataclasses, roofline evaluation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src/analysis/ (workload_characterization, architecture_evaluation)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Workload characterization, arch evaluation, bottleneck determination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src/metrics/ (training_metrics, inference_metrics)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EDP, TCO, energy-per-token, throughput metrics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  <p:sp>
        <p:nvSpPr>
          <p:cNvPr id="378" name="TextBox 5"/>
          <p:cNvSpPr txBox="1"/>
          <p:nvPr/>
        </p:nvSpPr>
        <p:spPr>
          <a:xfrm>
            <a:off x="758386" y="3940404"/>
            <a:ext cx="10607042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Config-Driven Architecture</a:t>
            </a:r>
          </a:p>
        </p:txBody>
      </p:sp>
      <p:sp>
        <p:nvSpPr>
          <p:cNvPr id="379" name="TextBox 6"/>
          <p:cNvSpPr txBox="1"/>
          <p:nvPr/>
        </p:nvSpPr>
        <p:spPr>
          <a:xfrm>
            <a:off x="758387" y="4397604"/>
            <a:ext cx="4937761" cy="1416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config/architectures.yaml → defines 3 accelerators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500"/>
              </a:spcBef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config/workloads.yaml → defines training + inference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500"/>
              </a:spcBef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config/experiments.yaml → which combos to evaluate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500"/>
              </a:spcBef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scripts/run_experiments.py → produces JSON results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500"/>
              </a:spcBef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scripts/benchmark_apple_silicon.py → M4 Pro benchmarks</a:t>
            </a:r>
          </a:p>
        </p:txBody>
      </p:sp>
      <p:sp>
        <p:nvSpPr>
          <p:cNvPr id="380" name="TextBox 7"/>
          <p:cNvSpPr txBox="1"/>
          <p:nvPr/>
        </p:nvSpPr>
        <p:spPr>
          <a:xfrm>
            <a:off x="6427666" y="4397604"/>
            <a:ext cx="4937761" cy="1696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project8_analysis.py: standalone analytical script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500"/>
              </a:spcBef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Defines Llama 3 8B model architecture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500"/>
              </a:spcBef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Instantiates all 3 architectures from params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500"/>
              </a:spcBef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Runs roofline_throughput() for every pair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500"/>
              </a:spcBef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Outputs arithmetic intensity, throughput,</a:t>
            </a:r>
            <a:endParaRPr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500"/>
              </a:spcBef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energy/token, EDP, cost/million tokens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85" name="TextBox 2"/>
          <p:cNvSpPr txBox="1"/>
          <p:nvPr/>
        </p:nvSpPr>
        <p:spPr>
          <a:xfrm>
            <a:off x="807718" y="640081"/>
            <a:ext cx="9966964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Real Hardware Validation - Apple M4 Pro</a:t>
            </a:r>
          </a:p>
        </p:txBody>
      </p:sp>
      <p:sp>
        <p:nvSpPr>
          <p:cNvPr id="386" name="Rectangle 3"/>
          <p:cNvSpPr/>
          <p:nvPr/>
        </p:nvSpPr>
        <p:spPr>
          <a:xfrm>
            <a:off x="762000" y="1188719"/>
            <a:ext cx="2286000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87" name="TextBox 4"/>
          <p:cNvSpPr txBox="1"/>
          <p:nvPr/>
        </p:nvSpPr>
        <p:spPr>
          <a:xfrm>
            <a:off x="807718" y="1554481"/>
            <a:ext cx="10458998" cy="1237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4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Matrix multiplication benchmark (Metal 4) simulating LLM hidden dimensions (N=4096).</a:t>
            </a:r>
            <a:endParaRPr>
              <a:solidFill>
                <a:srgbClr val="333333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14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Apple Silicon Unified Memory (UMA) provides ~273 GB/s directly to the GPU logic.</a:t>
            </a:r>
          </a:p>
          <a:p>
            <a:pPr>
              <a:spcBef>
                <a:spcPts val="14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Validates our thesis: High bandwidth enables incredible hardware utilization.</a:t>
            </a:r>
          </a:p>
        </p:txBody>
      </p:sp>
      <p:graphicFrame>
        <p:nvGraphicFramePr>
          <p:cNvPr id="388" name="Table 5"/>
          <p:cNvGraphicFramePr/>
          <p:nvPr/>
        </p:nvGraphicFramePr>
        <p:xfrm>
          <a:off x="853438" y="3166066"/>
          <a:ext cx="7315201" cy="27432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Matrix Size (N)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Achieved TFLOP/s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2048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6.48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Excellent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4096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6.73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Peak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8192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6.16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Scale-down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91" name="TextBox 2"/>
          <p:cNvSpPr txBox="1"/>
          <p:nvPr/>
        </p:nvSpPr>
        <p:spPr>
          <a:xfrm>
            <a:off x="777239" y="365759"/>
            <a:ext cx="9052561" cy="544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Full Results Table</a:t>
            </a:r>
          </a:p>
        </p:txBody>
      </p:sp>
      <p:sp>
        <p:nvSpPr>
          <p:cNvPr id="392" name="Rectangle 3"/>
          <p:cNvSpPr/>
          <p:nvPr/>
        </p:nvSpPr>
        <p:spPr>
          <a:xfrm>
            <a:off x="731519" y="914399"/>
            <a:ext cx="2286001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graphicFrame>
        <p:nvGraphicFramePr>
          <p:cNvPr id="393" name="Table 5"/>
          <p:cNvGraphicFramePr/>
          <p:nvPr/>
        </p:nvGraphicFramePr>
        <p:xfrm>
          <a:off x="731519" y="1343726"/>
          <a:ext cx="9966961" cy="36576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828800"/>
                <a:gridCol w="1188720"/>
                <a:gridCol w="1188720"/>
                <a:gridCol w="1005839"/>
                <a:gridCol w="1188720"/>
                <a:gridCol w="1371600"/>
                <a:gridCol w="1097280"/>
                <a:gridCol w="109728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Configuration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 tok/s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 tok/s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Bottleneck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Effective tok/s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Energy (mJ/tok)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EDP (µJ·s)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$/1M tok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H100 / Training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20,527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76,718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20,527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34.10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1.66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$0.0164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ASIC / Training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8,302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343,511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8,302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9.03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1.09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$0.0041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Unified / Training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15,213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19,786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15,213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23.01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1.51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$0.0076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H100 / Inference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61,580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4,348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Memory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4,348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160.98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37.02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$0.0774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ASIC / Inference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24,906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19,471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Memory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19,471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3.85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0.20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$0.0017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52251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Unified / Inference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45,640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1,122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Memory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1,122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312.08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278.27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$0.1029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  <p:sp>
        <p:nvSpPr>
          <p:cNvPr id="394" name="TextBox 6"/>
          <p:cNvSpPr txBox="1"/>
          <p:nvPr/>
        </p:nvSpPr>
        <p:spPr>
          <a:xfrm>
            <a:off x="777239" y="5375790"/>
            <a:ext cx="10607042" cy="693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Training: all architectures are compute-bound — H100 is fastest (20,527 tok/s) due to highest FLOP/s.</a:t>
            </a:r>
            <a:br/>
            <a:r>
              <a:t>Inference: all architectures are memory-bound — ASIC is fastest (19,471 tok/s) due to 15 TB/s SRAM BW.</a:t>
            </a:r>
            <a:br/>
            <a:r>
              <a:t>Unified-GPU is worst for inference: only 1,122 tok/s due to GDDR6 bandwidth bottleneck (864 GB/s).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3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399" name="TextBox 2"/>
          <p:cNvSpPr txBox="1"/>
          <p:nvPr/>
        </p:nvSpPr>
        <p:spPr>
          <a:xfrm>
            <a:off x="777239" y="365759"/>
            <a:ext cx="9052561" cy="544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32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TCO Analysis </a:t>
            </a:r>
            <a:r>
              <a:t>-</a:t>
            </a:r>
            <a:r>
              <a:t> Cost per Million Tokens</a:t>
            </a:r>
          </a:p>
        </p:txBody>
      </p:sp>
      <p:sp>
        <p:nvSpPr>
          <p:cNvPr id="400" name="Rectangle 3"/>
          <p:cNvSpPr/>
          <p:nvPr/>
        </p:nvSpPr>
        <p:spPr>
          <a:xfrm>
            <a:off x="731519" y="914399"/>
            <a:ext cx="2286001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401" name="TextBox 4"/>
          <p:cNvSpPr txBox="1"/>
          <p:nvPr/>
        </p:nvSpPr>
        <p:spPr>
          <a:xfrm>
            <a:off x="777239" y="1097280"/>
            <a:ext cx="10607042" cy="287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3-year TCO = chip_cost + electricity (TDP × 26,280 hours × $0.10/kWh). Cost/1M tokens = TCO / total_tokens.</a:t>
            </a:r>
          </a:p>
        </p:txBody>
      </p:sp>
      <p:graphicFrame>
        <p:nvGraphicFramePr>
          <p:cNvPr id="402" name="Table 5"/>
          <p:cNvGraphicFramePr/>
          <p:nvPr/>
        </p:nvGraphicFramePr>
        <p:xfrm>
          <a:off x="731519" y="1554480"/>
          <a:ext cx="9692642" cy="256032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286000"/>
                <a:gridCol w="1188720"/>
                <a:gridCol w="1371600"/>
                <a:gridCol w="1188720"/>
                <a:gridCol w="1828800"/>
                <a:gridCol w="18288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Architecture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Chip Cost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3yr Electricity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3yr TCO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$/1M tok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$/1M tok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Training-GPU (H100)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$30,000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$18,396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$48,396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$0.0774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$0.0164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Inference-ASIC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$3,000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$1,971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$4,971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$0.0017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$0.0041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Unified-GPU (L40S)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$10,000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$9,198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$19,198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$0.1029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$0.0076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</a:tbl>
          </a:graphicData>
        </a:graphic>
      </p:graphicFrame>
      <p:sp>
        <p:nvSpPr>
          <p:cNvPr id="403" name="TextBox 6"/>
          <p:cNvSpPr txBox="1"/>
          <p:nvPr/>
        </p:nvSpPr>
        <p:spPr>
          <a:xfrm>
            <a:off x="777239" y="4389120"/>
            <a:ext cx="4937761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FF6B3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Inference Cost Comparison</a:t>
            </a:r>
          </a:p>
        </p:txBody>
      </p:sp>
      <p:sp>
        <p:nvSpPr>
          <p:cNvPr id="404" name="TextBox 7"/>
          <p:cNvSpPr txBox="1"/>
          <p:nvPr/>
        </p:nvSpPr>
        <p:spPr>
          <a:xfrm>
            <a:off x="777239" y="4846320"/>
            <a:ext cx="4937761" cy="1416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Inference-ASIC: $0.0017/1M tok</a:t>
            </a: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H100-class:     $0.0774/1M tok → 45× more expensive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Unified L40S:   $0.1029/1M tok → 61× more expensive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spcBef>
                <a:spcPts val="500"/>
              </a:spcBef>
              <a:defRPr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ASIC advantage: 10× cheaper chip + 9.3× less power</a:t>
            </a:r>
          </a:p>
        </p:txBody>
      </p:sp>
      <p:sp>
        <p:nvSpPr>
          <p:cNvPr id="405" name="TextBox 8"/>
          <p:cNvSpPr txBox="1"/>
          <p:nvPr/>
        </p:nvSpPr>
        <p:spPr>
          <a:xfrm>
            <a:off x="6446519" y="4389120"/>
            <a:ext cx="4937762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ECC7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Deployment Recommendations</a:t>
            </a:r>
          </a:p>
        </p:txBody>
      </p:sp>
      <p:graphicFrame>
        <p:nvGraphicFramePr>
          <p:cNvPr id="406" name="Table 9"/>
          <p:cNvGraphicFramePr/>
          <p:nvPr/>
        </p:nvGraphicFramePr>
        <p:xfrm>
          <a:off x="6400800" y="4846320"/>
          <a:ext cx="5029200" cy="13716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645920"/>
                <a:gridCol w="338328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Workload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Architecture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Large-scale training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H100 (highest BF16 TFLOP/s)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Inference serving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ASIC (45× cheaper, 185× better EDP)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Avoid for inference</a:t>
                      </a:r>
                    </a:p>
                  </a:txBody>
                  <a:tcPr marL="45720" marR="45720" marT="45720" marB="4572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Unified-GPU (worst EDP, highest cost)</a:t>
                      </a:r>
                    </a:p>
                  </a:txBody>
                  <a:tcPr marL="45720" marR="45720" marT="45720" marB="4572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411" name="TextBox 2"/>
          <p:cNvSpPr txBox="1"/>
          <p:nvPr/>
        </p:nvSpPr>
        <p:spPr>
          <a:xfrm>
            <a:off x="777239" y="365759"/>
            <a:ext cx="9966961" cy="48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Can One Chip Do Both? (Unified Critique)</a:t>
            </a:r>
          </a:p>
        </p:txBody>
      </p:sp>
      <p:sp>
        <p:nvSpPr>
          <p:cNvPr id="412" name="Rectangle 3"/>
          <p:cNvSpPr/>
          <p:nvPr/>
        </p:nvSpPr>
        <p:spPr>
          <a:xfrm>
            <a:off x="731519" y="914399"/>
            <a:ext cx="2286001" cy="36579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graphicFrame>
        <p:nvGraphicFramePr>
          <p:cNvPr id="413" name="Table 4"/>
          <p:cNvGraphicFramePr/>
          <p:nvPr/>
        </p:nvGraphicFramePr>
        <p:xfrm>
          <a:off x="731519" y="1280160"/>
          <a:ext cx="10698481" cy="4572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828800"/>
                <a:gridCol w="2286000"/>
                <a:gridCol w="2286000"/>
                <a:gridCol w="4297680"/>
              </a:tblGrid>
              <a:tr h="914400"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Requirement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Opt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Opt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Conflict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0070A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 FLOPS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Right-size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Opposing Logic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Memory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80-96 GB HBM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20-30 GB HBM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2-3x Capacity Cost Waste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Interconnect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Heavy NVLink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Minimal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Dead silicon during decoding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0E5C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500W okay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75W needed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5x mismatch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  <p:sp>
        <p:nvSpPr>
          <p:cNvPr id="414" name="TextBox 5"/>
          <p:cNvSpPr txBox="1"/>
          <p:nvPr/>
        </p:nvSpPr>
        <p:spPr>
          <a:xfrm>
            <a:off x="698861" y="5852160"/>
            <a:ext cx="10607044" cy="615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Conclusion: A unified chip carries the massive cost overhead of </a:t>
            </a:r>
            <a:r>
              <a:t>both</a:t>
            </a:r>
            <a:r>
              <a:t> domains, but can only utilize one at a time. This results in 95-99% compute waste during decodes.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417" name="TextBox 2"/>
          <p:cNvSpPr txBox="1"/>
          <p:nvPr/>
        </p:nvSpPr>
        <p:spPr>
          <a:xfrm>
            <a:off x="794656" y="748937"/>
            <a:ext cx="9966961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Core Conclusions</a:t>
            </a:r>
          </a:p>
        </p:txBody>
      </p:sp>
      <p:sp>
        <p:nvSpPr>
          <p:cNvPr id="418" name="Rectangle 3"/>
          <p:cNvSpPr/>
          <p:nvPr/>
        </p:nvSpPr>
        <p:spPr>
          <a:xfrm>
            <a:off x="748936" y="1297576"/>
            <a:ext cx="2286002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419" name="TextBox 4"/>
          <p:cNvSpPr txBox="1"/>
          <p:nvPr/>
        </p:nvSpPr>
        <p:spPr>
          <a:xfrm>
            <a:off x="794656" y="1663338"/>
            <a:ext cx="10393682" cy="2126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4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1. Training is Compute Bound (1103 ops/byte). Inference is fundamentally Memory Bound (20.8 ops/byte).</a:t>
            </a:r>
          </a:p>
          <a:p>
            <a:pPr>
              <a:spcBef>
                <a:spcPts val="14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2. Training Hardware (H100) mathematically wastes 99% of its resources waiting for streaming inferences.</a:t>
            </a:r>
          </a:p>
          <a:p>
            <a:pPr>
              <a:spcBef>
                <a:spcPts val="14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3. Surveyed frameworks confirm this: Megatron scales Compute. llama.cpp scales Bandwidth.</a:t>
            </a:r>
          </a:p>
          <a:p>
            <a:pPr>
              <a:spcBef>
                <a:spcPts val="14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4. Specialized hardware natively outputs a 185× better EDP, driving TCO down by 45×.</a:t>
            </a:r>
          </a:p>
          <a:p>
            <a:pPr>
              <a:spcBef>
                <a:spcPts val="14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5. The entire AI industry is permanently bifurcating hardware development to match these exact metrics.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422" name="TextBox 2"/>
          <p:cNvSpPr txBox="1"/>
          <p:nvPr/>
        </p:nvSpPr>
        <p:spPr>
          <a:xfrm>
            <a:off x="777239" y="687979"/>
            <a:ext cx="9966961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423" name="Rectangle 3"/>
          <p:cNvSpPr/>
          <p:nvPr/>
        </p:nvSpPr>
        <p:spPr>
          <a:xfrm>
            <a:off x="731519" y="1236618"/>
            <a:ext cx="2286001" cy="36578"/>
          </a:xfrm>
          <a:prstGeom prst="rect">
            <a:avLst/>
          </a:prstGeom>
          <a:solidFill>
            <a:srgbClr val="FF6B3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424" name="TextBox 4"/>
          <p:cNvSpPr txBox="1"/>
          <p:nvPr/>
        </p:nvSpPr>
        <p:spPr>
          <a:xfrm>
            <a:off x="777238" y="1602379"/>
            <a:ext cx="10607044" cy="2420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800"/>
              </a:spcBef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[1] Megatron-LM: github.com/NVIDIA/Megatron-LM (Project 8 reference)</a:t>
            </a:r>
          </a:p>
          <a:p>
            <a:pPr>
              <a:spcBef>
                <a:spcPts val="800"/>
              </a:spcBef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[2] DeepSpeed: github.com/microsoft/DeepSpeed (Project 8 reference)</a:t>
            </a:r>
          </a:p>
          <a:p>
            <a:pPr>
              <a:spcBef>
                <a:spcPts val="800"/>
              </a:spcBef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[3] vLLM: github.com/vllm-project/vllm (Project 8 reference)</a:t>
            </a:r>
          </a:p>
          <a:p>
            <a:pPr>
              <a:spcBef>
                <a:spcPts val="800"/>
              </a:spcBef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[4] llama.cpp: github.com/ggerganov/llama.cpp (Project 8 reference)</a:t>
            </a:r>
          </a:p>
          <a:p>
            <a:pPr>
              <a:spcBef>
                <a:spcPts val="800"/>
              </a:spcBef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[5] TVM: github.com/apache/tvm (Project 8 reference)</a:t>
            </a:r>
          </a:p>
          <a:p>
            <a:pPr>
              <a:spcBef>
                <a:spcPts val="800"/>
              </a:spcBef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[6] Shoeybi et al., 'Training Multi-Billion Parameter...'</a:t>
            </a:r>
          </a:p>
          <a:p>
            <a:pPr>
              <a:spcBef>
                <a:spcPts val="800"/>
              </a:spcBef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[7] Kwon et al.</a:t>
            </a:r>
            <a:r>
              <a:t>,</a:t>
            </a:r>
            <a:r>
              <a:t> 'Efficient Memory Management for LLM...'</a:t>
            </a:r>
          </a:p>
          <a:p>
            <a:pPr>
              <a:spcBef>
                <a:spcPts val="800"/>
              </a:spcBef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[8] Apple inc, 'Unified Memory Architecture on Silicon'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Rectangle 1"/>
          <p:cNvSpPr/>
          <p:nvPr/>
        </p:nvSpPr>
        <p:spPr>
          <a:xfrm>
            <a:off x="-1" y="-2"/>
            <a:ext cx="12191697" cy="73156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427" name="Rectangle 2"/>
          <p:cNvSpPr/>
          <p:nvPr/>
        </p:nvSpPr>
        <p:spPr>
          <a:xfrm>
            <a:off x="-1" y="6784847"/>
            <a:ext cx="12191697" cy="73154"/>
          </a:xfrm>
          <a:prstGeom prst="rect">
            <a:avLst/>
          </a:prstGeom>
          <a:solidFill>
            <a:srgbClr val="0096D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428" name="TextBox 3"/>
          <p:cNvSpPr txBox="1"/>
          <p:nvPr/>
        </p:nvSpPr>
        <p:spPr>
          <a:xfrm>
            <a:off x="1417319" y="2286001"/>
            <a:ext cx="9326882" cy="849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429" name="TextBox 4"/>
          <p:cNvSpPr txBox="1"/>
          <p:nvPr/>
        </p:nvSpPr>
        <p:spPr>
          <a:xfrm>
            <a:off x="1417319" y="3474721"/>
            <a:ext cx="9326882" cy="48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Questions?</a:t>
            </a:r>
          </a:p>
        </p:txBody>
      </p:sp>
      <p:sp>
        <p:nvSpPr>
          <p:cNvPr id="430" name="TextBox 5"/>
          <p:cNvSpPr txBox="1"/>
          <p:nvPr/>
        </p:nvSpPr>
        <p:spPr>
          <a:xfrm>
            <a:off x="1521822" y="4215385"/>
            <a:ext cx="9326882" cy="348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Project 8 - Training-Time vs Inference-Time Architecture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Custom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ustom Design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Custom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Custom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ustom Design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Custom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