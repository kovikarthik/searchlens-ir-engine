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400">
                <a:solidFill>
                  <a:srgbClr val="000000"/>
                </a:solidFill>
                <a:latin typeface="Times New Roman"/>
              </a:defRPr>
            </a:pPr>
            <a:r>
              <a:t>LLMs Get Lost In Multi-Turn Conversation</a:t>
            </a:r>
          </a:p>
          <a:p>
            <a:pPr algn="ctr">
              <a:defRPr sz="2800">
                <a:latin typeface="Times New Roman"/>
              </a:defRPr>
            </a:pPr>
            <a:r>
              <a:t>A Deep Dive into the Reliability Gap of Modern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0152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000">
                <a:latin typeface="Times New Roman"/>
              </a:defRPr>
            </a:pPr>
            <a:r>
              <a:t>Presented by: Karthik Kovi</a:t>
            </a:r>
          </a:p>
          <a:p>
            <a:pPr algn="ctr">
              <a:defRPr sz="2000">
                <a:latin typeface="Times New Roman"/>
              </a:defRPr>
            </a:pPr>
            <a:r>
              <a:t>[INSERT VIDEO LINK HERE]</a:t>
            </a:r>
          </a:p>
          <a:p>
            <a:pPr algn="ctr">
              <a:defRPr sz="2000">
                <a:latin typeface="Times New Roman"/>
              </a:defRPr>
            </a:pPr>
            <a:r>
              <a:t>CECS 551: Artificial Intelligence (ICLR 2026 Oral)</a:t>
            </a:r>
          </a:p>
          <a:p>
            <a:pPr algn="ctr">
              <a:defRPr sz="2000">
                <a:latin typeface="Times New Roman"/>
              </a:defRPr>
            </a:pPr>
            <a:r>
              <a:t>California State University, Long Beach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The Hook: The Silent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Most AI tests only check 'Single-Turn' (one question, one answer).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Real-world work requires dozens of turns (coding, planning, research).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Discovery: Performance collapses by an average of 39% in long chats.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This research quantifies why models 'get lost' in the context.</a:t>
            </a:r>
          </a:p>
        </p:txBody>
      </p:sp>
      <p:pic>
        <p:nvPicPr>
          <p:cNvPr id="5" name="Picture 4" descr="maze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64592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The Two Pillars: IQ vs.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Aptitude: Raw Knowledge (IQ). Tested with all info given at once.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Reliability: Consistent Focus. Tested with info revealed turn-by-turn.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The 'Aptitude-Reliability Gap': Smart models can be extremely inconsistent.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High IQ does NOT guarantee successful multi-turn reasoning.</a:t>
            </a:r>
          </a:p>
        </p:txBody>
      </p:sp>
      <p:pic>
        <p:nvPicPr>
          <p:cNvPr id="5" name="Picture 4" descr="aptitude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Methodology: Sharded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Sharding: Breaking a complex task into tiny, atomic requirements.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User AI reveals one 'shard' per turn.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The Assistant LLM must wait until the final turn to generate the answer.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This forces the model to handle uncertainty and incremental updates.</a:t>
            </a:r>
          </a:p>
        </p:txBody>
      </p:sp>
      <p:pic>
        <p:nvPicPr>
          <p:cNvPr id="5" name="Picture 4" descr="sharding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64592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Diverse Evaluation across 6 Domains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1. Code (Python): Writing logic from scattered requirements.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2. SQL: Constructing queries through schema updates.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3. Math: Solving problems with incremental variables.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4. API Actions: Multi-step tool calls for a single goal.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5. Data-to-Text: Converting tables into narratives.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6. Summary: Distilling facts from a revealed document.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Experimental Results (Average Scores)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640080">
                <a:tc>
                  <a:txBody>
                    <a:bodyPr/>
                    <a:lstStyle/>
                    <a:p>
                      <a:pPr>
                        <a:defRPr b="1" sz="1800">
                          <a:latin typeface="Times New Roman"/>
                        </a:defRPr>
                      </a:pPr>
                      <a:r>
                        <a:t>Model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>
                          <a:latin typeface="Times New Roman"/>
                        </a:defRPr>
                      </a:pPr>
                      <a:r>
                        <a:t>Aptitude (IQ)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>
                          <a:latin typeface="Times New Roman"/>
                        </a:defRPr>
                      </a:pPr>
                      <a:r>
                        <a:t>Multi-Turn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>
                          <a:latin typeface="Times New Roman"/>
                        </a:defRPr>
                      </a:pPr>
                      <a:r>
                        <a:t>Reliability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>
                          <a:latin typeface="Times New Roman"/>
                        </a:defRPr>
                      </a:pPr>
                      <a:r>
                        <a:t>Final Score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>
                          <a:latin typeface="Times New Roman"/>
                        </a:defRPr>
                      </a:pPr>
                      <a:r>
                        <a:t>GPT-4o (Elite)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Times New Roman"/>
                        </a:defRPr>
                      </a:pPr>
                      <a:r>
                        <a:t>89.2%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Times New Roman"/>
                        </a:defRPr>
                      </a:pPr>
                      <a:r>
                        <a:t>51.4%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Times New Roman"/>
                        </a:defRPr>
                      </a:pPr>
                      <a:r>
                        <a:t>-37.8%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Times New Roman"/>
                        </a:defRPr>
                      </a:pPr>
                      <a:r>
                        <a:t>Pass (B)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>
                          <a:latin typeface="Times New Roman"/>
                        </a:defRPr>
                      </a:pPr>
                      <a:r>
                        <a:t>Gemini 1.5 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Times New Roman"/>
                        </a:defRPr>
                      </a:pPr>
                      <a:r>
                        <a:t>84.1%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Times New Roman"/>
                        </a:defRPr>
                      </a:pPr>
                      <a:r>
                        <a:t>48.2%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Times New Roman"/>
                        </a:defRPr>
                      </a:pPr>
                      <a:r>
                        <a:t>-35.9%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Times New Roman"/>
                        </a:defRPr>
                      </a:pPr>
                      <a:r>
                        <a:t>Pass (C)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>
                          <a:latin typeface="Times New Roman"/>
                        </a:defRPr>
                      </a:pPr>
                      <a:r>
                        <a:t>Llama-3-70B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Times New Roman"/>
                        </a:defRPr>
                      </a:pPr>
                      <a:r>
                        <a:t>78.5%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Times New Roman"/>
                        </a:defRPr>
                      </a:pPr>
                      <a:r>
                        <a:t>35.1%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Times New Roman"/>
                        </a:defRPr>
                      </a:pPr>
                      <a:r>
                        <a:t>-43.4%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Times New Roman"/>
                        </a:defRPr>
                      </a:pPr>
                      <a:r>
                        <a:t>Fail (D)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>
                          <a:latin typeface="Times New Roman"/>
                        </a:defRPr>
                      </a:pPr>
                      <a:r>
                        <a:t>Claude 3.5 Sonnet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Times New Roman"/>
                        </a:defRPr>
                      </a:pPr>
                      <a:r>
                        <a:t>88.7%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Times New Roman"/>
                        </a:defRPr>
                      </a:pPr>
                      <a:r>
                        <a:t>54.1%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Times New Roman"/>
                        </a:defRPr>
                      </a:pPr>
                      <a:r>
                        <a:t>-34.6%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Times New Roman"/>
                        </a:defRPr>
                      </a:pPr>
                      <a:r>
                        <a:t>Pass (B+)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Does Model Size Fix Reliability?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Scaling parameters increases IQ (Aptitude) but NOT Reliability.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GPT-4o fails just as relatively as Llama-8B.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Verbose models often 'drift' more due to self-generated noise.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We need new architectures, not just more compute.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The Reasoning Paradox (o3 / R1)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Thinking models (CoT) also get lost.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Reasoning Snowballing: Logic applied to a wrong initial premise.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If the model makes one tiny error in Turn 1, it 'deep thinks' it into reality.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Logic is only as good as the history it is based 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Root Cause 1: Premature Finality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AI is too eager to please; it guesses instead of clarifying.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It 'locks in' a plan at Turn 1, even if info is missing.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When corrected in Turn 2, it tries to 'patch' the guess instead of restarting.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This leads to 'Commitment Bias' in AI logic.</a:t>
            </a:r>
          </a:p>
        </p:txBody>
      </p:sp>
      <p:pic>
        <p:nvPicPr>
          <p:cNvPr id="5" name="Picture 4" descr="bias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64592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Root Cause 2: The Noise in the Mirror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LLMs read their own previous words as absolute truths.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A verbose Turn 1 'pollutes' the context window with fluff.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By Turn 3, the model is listening to itself more than the user.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Higher token counts correlate directly with higher failure rates.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Case Study: The SQL 'Wrong Turn'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Turn 1: Model assumes an INNER JOIN.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Turn 2: User reveals info requiring a LEFT JOIN.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Turn 3: Model keeps the INNER JOIN but hacks filters to mimic a LEFT JOIN.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Result: Fundamental logic failure due to commitment bias.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The Point of No Return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[ START ] -&gt; User gives partial info.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      |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[ GUESS ] -&gt; Model assumes the rest (Commitment).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      |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[ NEW INFO ] -&gt; User provides Shard 2.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      |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[ FAILURE ] -&gt; Model ignores info to fit its guess.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Observation: Recovery chance is &lt; 5% after Turn 3.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Implications for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Agents perform hundreds of turns autonomously.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If reliability drops 39% in 3 turns, long agentic loops are fragile.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Every turn is a chance for the agent to get 'lost'.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Multi-Turn Stability is the next 'Grand Challenge' for AI.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Recommendation: Reliability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Native Multi-Turn RL: Rewards for asking clarification questions.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Training sets must include 'Course-Correction' tasks.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Teach models to explicitly discard their own earlier mistakes.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Reward brevity and focus over long, verbose answers.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User Guide: Survival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1. 'If time allows, try again': Start new chats for complex tasks.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2. Consolidate: Periodically copy key facts into a fresh prompt.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3. Set Rules: 'Do not assume. If info is missing, ask me first.'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4. Fresh Chat &gt; Long Chat for complex multi-step work.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Beyond Static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Single-turn benchmarks (MMLU) are no longer enough.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The new standard: 'Reliability Retention Rate'.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Success = Staying 100% focused over 20+ turns of dialogue.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Salesforce's 'Sharded-Eval' is the first framework for this.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Conclusion: Stay in the Clear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AI failures in conversation are architectural, not just IQ-based.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Interactive reliability is the heartbeat of real utility.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Interaction is the heart of AI—let's make it stable.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ICLR 2026: A wakeup call for more reliable AI development.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Key Takeaways for 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1. IQ is not Reliability.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2. One 'Wrong Turn' can ruin a 10-turn conversation.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3. Don't be afraid to start a fresh chat with your AI.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4. We are moving from 'Smart AI' to 'Reliable AI Agents'.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The 'Lost in Conversation' effect is the silent killer of productivity.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Solving it requires better models and better user habits.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Outstanding Paper Award: A landmark study for the Agentic Era.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Thank you for your attention!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400">
                <a:latin typeface="Times New Roman"/>
              </a:defRPr>
            </a:pPr>
            <a:r>
              <a:t>Thank You!</a:t>
            </a:r>
          </a:p>
          <a:p>
            <a:pPr algn="ctr">
              <a:defRPr sz="3200">
                <a:latin typeface="Times New Roman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