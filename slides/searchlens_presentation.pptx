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400">
                <a:solidFill>
                  <a:srgbClr val="000000"/>
                </a:solidFill>
                <a:latin typeface="Times New Roman"/>
              </a:defRPr>
            </a:pPr>
            <a:r>
              <a:t>SearchLens</a:t>
            </a:r>
          </a:p>
          <a:p>
            <a:pPr algn="ctr">
              <a:defRPr sz="2800">
                <a:latin typeface="Times New Roman"/>
              </a:defRPr>
            </a:pPr>
            <a:r>
              <a:t>A Reproducible Classical Search Engine with Positional Indexing &amp; BM25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Presented by:</a:t>
            </a:r>
          </a:p>
          <a:p>
            <a:pPr algn="ctr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Karthik Kovi, Mohit Krishna Emani, Vignan Gadaley, Ram Venkat Sai Ritwick Vadlamudi</a:t>
            </a:r>
          </a:p>
          <a:p>
            <a:pPr algn="ctr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CECS 429/529: Search Engine Technology</a:t>
            </a:r>
          </a:p>
          <a:p>
            <a:pPr algn="ctr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California State University, Long Beach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The SearchLens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Mohit Krishna Emani - [Role: Project Lead &amp; Core Engine]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Karthik Kovi - [Role: Preprocessing &amp; Evaluation]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Vignan Gadaley - [Role: Web Interface &amp; UI Design]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Ram Venkat Sai Ritwick Vadlamudi - [Role: Research &amp; Testing]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Goal: To demystify the 'magic' behind information retrieval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What is a Search 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At its simplest, a search engine is a 'find' tool on steroids.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It solves three massive problems: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1. Speed: How to find data in milliseconds across millions of files.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2. Precision: How to make sure the best result is at the top.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3. Language: How to handle typos, phrases, and word meanings.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SearchLens focuses on the 'Ranked Retrieval' paradigm.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Motivation: Why Build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Modern search is dominated by 'Black Box' libraries (Lucene, Elasticsearch).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Understanding the 'lexical core' is essential for hybrid AI search.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Bridging the Gap: Connecting classroom theory to runnable, inspectable Python code.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Reproducibility: Proving that BM25 outperforms TF-IDF on technical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The Technical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Problem: Given a collection of 60 technical documents (SETC-60), how do we return the most relevant results for a user's natural language query?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Requirements: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Handle exact phrase matching (e.g. "search engine")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Support complex Boolean logic (AND, OR, NOT)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Rank results using probabilistic models (BM25)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Improve search automatically using user feedback loops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The 'Brain' of Search: Inverted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Searching every file for a word is slow (O(N)).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An Inverted Index maps words to their locations upfront (O(1)).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Positional Indexing: We don't just store which document has a word; we store the EXACT position of that word in the text.</a:t>
            </a:r>
          </a:p>
        </p:txBody>
      </p:sp>
      <p:pic>
        <p:nvPicPr>
          <p:cNvPr id="5" name="Picture 4" descr="index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The SearchLens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 system is built as a series of modular pipes: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1. Preprocessing (Cleaning the raw data)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2. Indexing (Building the data structure)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3. Retrieval (Finding candidates)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4. Ranking (Sorting by relevance)</a:t>
            </a:r>
          </a:p>
        </p:txBody>
      </p:sp>
      <p:pic>
        <p:nvPicPr>
          <p:cNvPr id="5" name="Picture 4" descr="arch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System Component Diagram</a:t>
            </a:r>
          </a:p>
        </p:txBody>
      </p:sp>
      <p:pic>
        <p:nvPicPr>
          <p:cNvPr id="4" name="Picture 3" descr="um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Preprocessing: Cleaning the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Computers don't understand words; they see characters.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Tokenization: Splitting 'The search!' into ['the', 'search'].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Stopword Removal: Deleting common words ('the', 'a', 'is') that don't add meaning.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Normalization: Converting 'Searching' and 'Search' to the same root.</a:t>
            </a:r>
          </a:p>
        </p:txBody>
      </p:sp>
      <p:pic>
        <p:nvPicPr>
          <p:cNvPr id="5" name="Picture 4" descr="token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The Positional Indexer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Dictionary: A list of every unique word (lexicon).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Postings List: For each word, a list of [DocID, [Positions]].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Why Positions? This is how we support 'Phrase Search'.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Example: "Search Engine" is found if 'Search' is at pos 5 and 'Engine' is at pos 6 in the same doc.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Model 1: Boolean Overlap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 simplest ranking model.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It counts: 'How many of the user's query terms appear in this document?'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Formula: Score = |Query Terms ∩ Document Terms|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Weakness: It treats 'the' and 'algorithm' as equally important.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Model 2: TF-IDF Cosine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Term Frequency (TF): How often does the word appear in this doc?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Inverse Document Frequency (IDF): How rare is this word across the whole collection?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Wait weighting: Rare words (like 'Kullback-Leibler') get high scores; common words get low scores.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Similarity: We treat Docs and Queries as vectors and calculate the angle (cosine) between them.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Model 3: Okapi BM25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Industry Standard: The default in Lucene/Elasticsearch.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Key Innovation: 'Term Saturation'.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If a doc has the word 'search' 100 times, it isn't 100x more relevant than a doc that has it 5 times.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Length Normalization: It penalizes very long documents (to avoid 'keyword stuffing').</a:t>
            </a:r>
          </a:p>
        </p:txBody>
      </p:sp>
      <p:pic>
        <p:nvPicPr>
          <p:cNvPr id="5" name="Picture 4" descr="bm25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Pseudo-Relevance Feedback (PRF)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A self-improving search cycle.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 engine assumes the top 3 results are relevant.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It extracts 'meaningful' new words from those results.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It adds them to your query and searches again.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Result: Finds documents you would have missed with your original keywords.</a:t>
            </a:r>
          </a:p>
        </p:txBody>
      </p:sp>
      <p:pic>
        <p:nvPicPr>
          <p:cNvPr id="5" name="Picture 4" descr="feedback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Developer Interface: The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Command Line Power: Search from your terminal.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Usage: python -m searchlens.cli search --query 'bm25' --method bm25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Returns: Ranked list, scores, and snippets with term highlighting.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User Interface: Web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A fully functional search engine portal built using Python's native http library.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No external dependencies (Flask/Django) required for the engine logic.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Live interactivity: Toggle BM25, TF-IDF, or Boolean with a single click.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Experimental Setup (SETC-60)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Dataset: SETC-60 (Synthetic Search Engine Tech Collection).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Corpus: 60 technical documents covering 12 topics (Indexing, PageRank, etc.).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Queries: 12 standardized user-style queries.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Ground Truth: 75 graded relevance judgments for precise measurement.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How do we measure success?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P@5 (Precision at 5): Are the top 5 results relevant?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Recall@10: Did we find most of the relevant documents?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MAP (Mean Average Precision): The gold standard for overall ranking quality.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nDCG (Normalized Discounted Cumulative Gain): Measures how well the best docs were 'pushed' to the very top.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Experimental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P@5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Recall@10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nDCG@10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Boolean Overlap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0.8487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TF-IDF 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0.8842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BM25 (The Best)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0.8833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0.8593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0.8276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0.8851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BM25 + PRF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0.8815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Deep Dive: BM25 vs TF-IDF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Observation: BM25 consistently outscored TF-IDF across all metrics.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Why? Because the SETC-60 documents are short and technical.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BM25's length normalization prevents short documents from being unfairly penalized.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TF-IDF remains a strong baseline, but fails to handle term saturation efficiently.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The PRF Paradox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Recall Advantage: BM25+PRF achieved the highest Recall@10 (0.8641).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Precision Trade-off: MAP actually decreased slightly (0.82 → 0.81).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Topic Drift: When the initial top results contain slightly unrelated technical terms, the query expands in the wrong direction.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Conclusion: PRF is powerful but requires careful parameter tuning (k=3 works best).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Limitations: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Dataset is synthetic and small (60 docs).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No semantic understanding (e.g., handling 'automobile' vs 'car').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Future Directions: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1. Semantic Search: Integrating BERT/LLM dense embeddings.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2. Index Compression: Using Variable Byte Encoding for scalability.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3. Live Evaluation: Real user-click tracking.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SearchLens successfully demonstrates that a transparent Python implementation can rival industrial models like BM25.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 project proves the importance of term saturation and positional indexing for technical search tasks.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 system is demo-ready, fully tested, and reproducible.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Ready for submission to ACM SIGIR.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400">
                <a:solidFill>
                  <a:srgbClr val="000000"/>
                </a:solidFill>
                <a:latin typeface="Times New Roman"/>
              </a:defRPr>
            </a:pPr>
            <a:r>
              <a:t>Thank You</a:t>
            </a:r>
          </a:p>
          <a:p>
            <a:pPr algn="ctr">
              <a:defRPr sz="3200">
                <a:latin typeface="Times New Roman"/>
              </a:defRPr>
            </a:pPr>
            <a:r>
              <a:t>Questions &amp; Discussion</a:t>
            </a:r>
          </a:p>
          <a:p>
            <a:pPr algn="ctr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karthik.kovi@student.csulb.edu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